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3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8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A5FB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A5FB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202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5400" b="1">
                <a:solidFill>
                  <a:srgbClr val="FFFFFF"/>
                </a:solidFill>
                <a:latin typeface="Noto Sans TC"/>
                <a:ea typeface="Noto Sans TC"/>
              </a:rPr>
              <a:t>我曾經燒掉考卷</a:t>
            </a:r>
          </a:p>
        </p:txBody>
      </p:sp>
      <p:sp>
        <p:nvSpPr>
          <p:cNvPr id="8559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500" b="0">
                <a:solidFill>
                  <a:srgbClr val="FFFFFF"/>
                </a:solidFill>
                <a:latin typeface="Noto Sans TC"/>
                <a:ea typeface="Noto Sans TC"/>
              </a:rPr>
              <a:t>鄭國威｜泛科學共同創辦人</a:t>
            </a:r>
            <a:br/>
            <a:r>
              <a:rPr lang="zh-TW" sz="2500" b="0">
                <a:solidFill>
                  <a:srgbClr val="FFFFFF"/>
                </a:solidFill>
                <a:latin typeface="Noto Sans TC"/>
                <a:ea typeface="Noto Sans TC"/>
              </a:rPr>
              <a:t>大愛人文講堂</a:t>
            </a:r>
          </a:p>
        </p:txBody>
      </p:sp>
      <p:sp>
        <p:nvSpPr>
          <p:cNvPr id="92876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A5FB4"/>
                </a:solidFill>
                <a:latin typeface="Noto Sans TC"/>
                <a:ea typeface="Noto Sans TC"/>
              </a:rPr>
              <a:t>01/32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7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90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5400" b="1">
                <a:solidFill>
                  <a:srgbClr val="F8FBFF"/>
                </a:solidFill>
                <a:latin typeface="Noto Sans TC"/>
                <a:ea typeface="Noto Sans TC"/>
              </a:rPr>
              <a:t>15 歲的我，正在燒考卷</a:t>
            </a:r>
          </a:p>
        </p:txBody>
      </p:sp>
      <p:sp>
        <p:nvSpPr>
          <p:cNvPr id="27566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500" b="0">
                <a:solidFill>
                  <a:srgbClr val="F8FBFF"/>
                </a:solidFill>
                <a:latin typeface="Noto Sans TC"/>
                <a:ea typeface="Noto Sans TC"/>
              </a:rPr>
              <a:t>我站在旁邊，看著那個瞬間發生。</a:t>
            </a:r>
            <a:br/>
            <a:r>
              <a:rPr lang="zh-TW" sz="2500" b="0">
                <a:solidFill>
                  <a:srgbClr val="F8FBFF"/>
                </a:solidFill>
                <a:latin typeface="Noto Sans TC"/>
                <a:ea typeface="Noto Sans TC"/>
              </a:rPr>
              <a:t>不是青春叛逆，是信任斷線。</a:t>
            </a:r>
          </a:p>
        </p:txBody>
      </p:sp>
      <p:sp>
        <p:nvSpPr>
          <p:cNvPr id="46256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1D4ED8"/>
                </a:solidFill>
                <a:latin typeface="Noto Sans TC"/>
                <a:ea typeface="Noto Sans TC"/>
              </a:rPr>
              <a:t>02/32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7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693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5400" b="1">
                <a:solidFill>
                  <a:srgbClr val="F8FBFF"/>
                </a:solidFill>
                <a:latin typeface="Noto Sans TC"/>
                <a:ea typeface="Noto Sans TC"/>
              </a:rPr>
              <a:t>那不是浪漫畫面</a:t>
            </a:r>
          </a:p>
        </p:txBody>
      </p:sp>
      <p:sp>
        <p:nvSpPr>
          <p:cNvPr id="54654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500" b="0">
                <a:solidFill>
                  <a:srgbClr val="F8FBFF"/>
                </a:solidFill>
                <a:latin typeface="Noto Sans TC"/>
                <a:ea typeface="Noto Sans TC"/>
              </a:rPr>
              <a:t>那是一個人對數學、科學、學習，</a:t>
            </a:r>
            <a:br/>
            <a:r>
              <a:rPr lang="zh-TW" sz="2500" b="0">
                <a:solidFill>
                  <a:srgbClr val="F8FBFF"/>
                </a:solidFill>
                <a:latin typeface="Noto Sans TC"/>
                <a:ea typeface="Noto Sans TC"/>
              </a:rPr>
              <a:t>以及被評量的人生失去信任。</a:t>
            </a:r>
          </a:p>
        </p:txBody>
      </p:sp>
      <p:sp>
        <p:nvSpPr>
          <p:cNvPr id="42265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1D4ED8"/>
                </a:solidFill>
                <a:latin typeface="Noto Sans TC"/>
                <a:ea typeface="Noto Sans TC"/>
              </a:rPr>
              <a:t>03/32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7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36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5400" b="1">
                <a:solidFill>
                  <a:srgbClr val="F8FBFF"/>
                </a:solidFill>
                <a:latin typeface="Noto Sans TC"/>
                <a:ea typeface="Noto Sans TC"/>
              </a:rPr>
              <a:t>我以為自己討厭知識</a:t>
            </a:r>
          </a:p>
        </p:txBody>
      </p:sp>
      <p:sp>
        <p:nvSpPr>
          <p:cNvPr id="55471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500" b="0">
                <a:solidFill>
                  <a:srgbClr val="F8FBFF"/>
                </a:solidFill>
                <a:latin typeface="Noto Sans TC"/>
                <a:ea typeface="Noto Sans TC"/>
              </a:rPr>
              <a:t>後來才知道，我討厭的是</a:t>
            </a:r>
            <a:br/>
            <a:r>
              <a:rPr lang="zh-TW" sz="2500" b="0">
                <a:solidFill>
                  <a:srgbClr val="F8FBFF"/>
                </a:solidFill>
                <a:latin typeface="Noto Sans TC"/>
                <a:ea typeface="Noto Sans TC"/>
              </a:rPr>
              <a:t>只能用單一標準證明自己的系統。</a:t>
            </a:r>
          </a:p>
        </p:txBody>
      </p:sp>
      <p:sp>
        <p:nvSpPr>
          <p:cNvPr id="95418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1D4ED8"/>
                </a:solidFill>
                <a:latin typeface="Noto Sans TC"/>
                <a:ea typeface="Noto Sans TC"/>
              </a:rPr>
              <a:t>04/32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6470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FFFFFF"/>
                </a:solidFill>
                <a:latin typeface="Noto Sans TC"/>
                <a:ea typeface="Noto Sans TC"/>
              </a:rPr>
              <a:t>第一個問題</a:t>
            </a:r>
          </a:p>
        </p:txBody>
      </p:sp>
      <p:sp>
        <p:nvSpPr>
          <p:cNvPr id="51488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FFFFFF"/>
                </a:solidFill>
                <a:latin typeface="Noto Sans TC"/>
                <a:ea typeface="Noto Sans TC"/>
              </a:rPr>
              <a:t>人為什麼會討厭學習？</a:t>
            </a:r>
          </a:p>
        </p:txBody>
      </p:sp>
      <p:sp>
        <p:nvSpPr>
          <p:cNvPr id="75846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FFFFFF"/>
                </a:solidFill>
                <a:latin typeface="Noto Sans TC"/>
                <a:ea typeface="Noto Sans TC"/>
              </a:rPr>
              <a:t>05/32</a:t>
            </a:r>
          </a:p>
        </p:txBody>
      </p:sp>
      <p:sp>
        <p:nvSpPr>
          <p:cNvPr id="9" name="shape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4F9E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7187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我不是不會學</a:t>
            </a:r>
          </a:p>
        </p:txBody>
      </p:sp>
      <p:sp>
        <p:nvSpPr>
          <p:cNvPr id="12321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我是不知道，為什麼要學。</a:t>
            </a:r>
          </a:p>
        </p:txBody>
      </p:sp>
      <p:sp>
        <p:nvSpPr>
          <p:cNvPr id="52180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A4F9E"/>
                </a:solidFill>
                <a:latin typeface="Noto Sans TC"/>
                <a:ea typeface="Noto Sans TC"/>
              </a:rPr>
              <a:t>06/32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97077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知識被切碎後</a:t>
            </a:r>
          </a:p>
        </p:txBody>
      </p:sp>
      <p:sp>
        <p:nvSpPr>
          <p:cNvPr id="70371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就會失去意義。</a:t>
            </a:r>
            <a:br/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剩下答案、分數、排名，沒有世界。</a:t>
            </a:r>
          </a:p>
        </p:txBody>
      </p:sp>
      <p:sp>
        <p:nvSpPr>
          <p:cNvPr id="81735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A4F9E"/>
                </a:solidFill>
                <a:latin typeface="Noto Sans TC"/>
                <a:ea typeface="Noto Sans TC"/>
              </a:rPr>
              <a:t>07/32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79212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科學素養不是背答案</a:t>
            </a:r>
          </a:p>
        </p:txBody>
      </p:sp>
      <p:sp>
        <p:nvSpPr>
          <p:cNvPr id="75513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知道很多答案，仍可能不知道</a:t>
            </a:r>
            <a:br/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如何面對一件不確定的事。</a:t>
            </a:r>
          </a:p>
        </p:txBody>
      </p:sp>
      <p:sp>
        <p:nvSpPr>
          <p:cNvPr id="57164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A4F9E"/>
                </a:solidFill>
                <a:latin typeface="Noto Sans TC"/>
                <a:ea typeface="Noto Sans TC"/>
              </a:rPr>
              <a:t>08/32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5951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科學素養是面對未知的方法</a:t>
            </a:r>
          </a:p>
        </p:txBody>
      </p:sp>
      <p:sp>
        <p:nvSpPr>
          <p:cNvPr id="80307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先問問題，再看證據。</a:t>
            </a:r>
            <a:br/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再允許自己修正。</a:t>
            </a:r>
          </a:p>
        </p:txBody>
      </p:sp>
      <p:sp>
        <p:nvSpPr>
          <p:cNvPr id="75971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A4F9E"/>
                </a:solidFill>
                <a:latin typeface="Noto Sans TC"/>
                <a:ea typeface="Noto Sans TC"/>
              </a:rPr>
              <a:t>09/32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A7C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9432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FFFFFF"/>
                </a:solidFill>
                <a:latin typeface="Noto Sans TC"/>
                <a:ea typeface="Noto Sans TC"/>
              </a:rPr>
              <a:t>轉折</a:t>
            </a:r>
          </a:p>
        </p:txBody>
      </p:sp>
      <p:sp>
        <p:nvSpPr>
          <p:cNvPr id="3501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FFFFFF"/>
                </a:solidFill>
                <a:latin typeface="Noto Sans TC"/>
                <a:ea typeface="Noto Sans TC"/>
              </a:rPr>
              <a:t>世界開始露出裂縫。</a:t>
            </a:r>
          </a:p>
        </p:txBody>
      </p:sp>
      <p:sp>
        <p:nvSpPr>
          <p:cNvPr id="91341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FFFFFF"/>
                </a:solidFill>
                <a:latin typeface="Noto Sans TC"/>
                <a:ea typeface="Noto Sans TC"/>
              </a:rPr>
              <a:t>10/32</a:t>
            </a:r>
          </a:p>
        </p:txBody>
      </p:sp>
      <p:sp>
        <p:nvSpPr>
          <p:cNvPr id="9" name="shape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A7C4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0A7C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0A7C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329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我的非正規教材</a:t>
            </a:r>
          </a:p>
        </p:txBody>
      </p:sp>
      <p:sp>
        <p:nvSpPr>
          <p:cNvPr id="14615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動漫、遊戲、科幻、網路、科技新聞、社會議題。</a:t>
            </a:r>
            <a:br/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它們沒有考我，卻開始逼我提問。</a:t>
            </a:r>
          </a:p>
        </p:txBody>
      </p:sp>
      <p:sp>
        <p:nvSpPr>
          <p:cNvPr id="73111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0A7C4"/>
                </a:solidFill>
                <a:latin typeface="Noto Sans TC"/>
                <a:ea typeface="Noto Sans TC"/>
              </a:rPr>
              <a:t>11/32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0A7C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0A7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93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原來知識可以破解世界</a:t>
            </a:r>
          </a:p>
        </p:txBody>
      </p:sp>
      <p:sp>
        <p:nvSpPr>
          <p:cNvPr id="9606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不是課本突然變可愛。</a:t>
            </a:r>
            <a:br/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是我發現它能解釋事情怎麼運作。</a:t>
            </a:r>
          </a:p>
        </p:txBody>
      </p:sp>
      <p:sp>
        <p:nvSpPr>
          <p:cNvPr id="22301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0A7C4"/>
                </a:solidFill>
                <a:latin typeface="Noto Sans TC"/>
                <a:ea typeface="Noto Sans TC"/>
              </a:rPr>
              <a:t>12/32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0A7C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0A7C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43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好奇不是天賦</a:t>
            </a:r>
          </a:p>
        </p:txBody>
      </p:sp>
      <p:sp>
        <p:nvSpPr>
          <p:cNvPr id="72594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好奇是被問題點燃。</a:t>
            </a:r>
            <a:br/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一個好問題，比標準答案更有價值。</a:t>
            </a:r>
          </a:p>
        </p:txBody>
      </p:sp>
      <p:sp>
        <p:nvSpPr>
          <p:cNvPr id="59898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0A7C4"/>
                </a:solidFill>
                <a:latin typeface="Noto Sans TC"/>
                <a:ea typeface="Noto Sans TC"/>
              </a:rPr>
              <a:t>13/32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1375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FFFFFF"/>
                </a:solidFill>
                <a:latin typeface="Noto Sans TC"/>
                <a:ea typeface="Noto Sans TC"/>
              </a:rPr>
              <a:t>從理解世界</a:t>
            </a:r>
          </a:p>
        </p:txBody>
      </p:sp>
      <p:sp>
        <p:nvSpPr>
          <p:cNvPr id="47210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FFFFFF"/>
                </a:solidFill>
                <a:latin typeface="Noto Sans TC"/>
                <a:ea typeface="Noto Sans TC"/>
              </a:rPr>
              <a:t>到想把世界講清楚。</a:t>
            </a:r>
          </a:p>
        </p:txBody>
      </p:sp>
      <p:sp>
        <p:nvSpPr>
          <p:cNvPr id="68595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FFFFFF"/>
                </a:solidFill>
                <a:latin typeface="Noto Sans TC"/>
                <a:ea typeface="Noto Sans TC"/>
              </a:rPr>
              <a:t>14/32</a:t>
            </a:r>
          </a:p>
        </p:txBody>
      </p:sp>
      <p:sp>
        <p:nvSpPr>
          <p:cNvPr id="9" name="shape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9C9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06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06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1418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泛科學的開始</a:t>
            </a:r>
          </a:p>
        </p:txBody>
      </p:sp>
      <p:sp>
        <p:nvSpPr>
          <p:cNvPr id="79566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全台最大科學社群之一。</a:t>
            </a:r>
            <a:br/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YouTube、網站、社群、活動，都是不同入口。</a:t>
            </a:r>
          </a:p>
        </p:txBody>
      </p:sp>
      <p:sp>
        <p:nvSpPr>
          <p:cNvPr id="82640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069C9"/>
                </a:solidFill>
                <a:latin typeface="Noto Sans TC"/>
                <a:ea typeface="Noto Sans TC"/>
              </a:rPr>
              <a:t>15/32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06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06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49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科學傳播不是把知識講簡單</a:t>
            </a:r>
          </a:p>
        </p:txBody>
      </p:sp>
      <p:sp>
        <p:nvSpPr>
          <p:cNvPr id="62251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真正困難的是：</a:t>
            </a:r>
            <a:br/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不背叛知識，又讓人願意靠近。</a:t>
            </a:r>
          </a:p>
        </p:txBody>
      </p:sp>
      <p:sp>
        <p:nvSpPr>
          <p:cNvPr id="68081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069C9"/>
                </a:solidFill>
                <a:latin typeface="Noto Sans TC"/>
                <a:ea typeface="Noto Sans TC"/>
              </a:rPr>
              <a:t>16/32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06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06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2216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科學傳播是在找入口</a:t>
            </a:r>
          </a:p>
        </p:txBody>
      </p:sp>
      <p:sp>
        <p:nvSpPr>
          <p:cNvPr id="70483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把專業知識翻譯成一般人</a:t>
            </a:r>
            <a:br/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已經在乎、願意進入的問題。</a:t>
            </a:r>
          </a:p>
        </p:txBody>
      </p:sp>
      <p:sp>
        <p:nvSpPr>
          <p:cNvPr id="17604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069C9"/>
                </a:solidFill>
                <a:latin typeface="Noto Sans TC"/>
                <a:ea typeface="Noto Sans TC"/>
              </a:rPr>
              <a:t>17/32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06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06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7806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技巧一：從衝突開始</a:t>
            </a:r>
          </a:p>
        </p:txBody>
      </p:sp>
      <p:sp>
        <p:nvSpPr>
          <p:cNvPr id="80816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不要從名詞開始。</a:t>
            </a:r>
            <a:br/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先讓觀眾看見：這裡有矛盾。</a:t>
            </a:r>
          </a:p>
        </p:txBody>
      </p:sp>
      <p:sp>
        <p:nvSpPr>
          <p:cNvPr id="46113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069C9"/>
                </a:solidFill>
                <a:latin typeface="Noto Sans TC"/>
                <a:ea typeface="Noto Sans TC"/>
              </a:rPr>
              <a:t>18/32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06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06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67572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技巧二：從觀眾在乎的事開始</a:t>
            </a:r>
          </a:p>
        </p:txBody>
      </p:sp>
      <p:sp>
        <p:nvSpPr>
          <p:cNvPr id="15806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健康、AI、食安、能源、演算法。</a:t>
            </a:r>
            <a:br/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入口通常在生活，不在術語。</a:t>
            </a:r>
          </a:p>
        </p:txBody>
      </p:sp>
      <p:sp>
        <p:nvSpPr>
          <p:cNvPr id="76656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069C9"/>
                </a:solidFill>
                <a:latin typeface="Noto Sans TC"/>
                <a:ea typeface="Noto Sans TC"/>
              </a:rPr>
              <a:t>19/32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06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06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60545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技巧三：比喻是臨時鷹架</a:t>
            </a:r>
          </a:p>
        </p:txBody>
      </p:sp>
      <p:sp>
        <p:nvSpPr>
          <p:cNvPr id="86623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好比喻不是裝飾。</a:t>
            </a:r>
            <a:br/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它只是幫人先站上去，看見結構。</a:t>
            </a:r>
          </a:p>
        </p:txBody>
      </p:sp>
      <p:sp>
        <p:nvSpPr>
          <p:cNvPr id="51222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069C9"/>
                </a:solidFill>
                <a:latin typeface="Noto Sans TC"/>
                <a:ea typeface="Noto Sans TC"/>
              </a:rPr>
              <a:t>20/32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06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06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94369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技巧四：幽默降低摩擦</a:t>
            </a:r>
          </a:p>
        </p:txBody>
      </p:sp>
      <p:sp>
        <p:nvSpPr>
          <p:cNvPr id="50026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幽默不是稀釋知識。</a:t>
            </a:r>
            <a:br/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它只是讓人願意多停留一分鐘。</a:t>
            </a:r>
          </a:p>
        </p:txBody>
      </p:sp>
      <p:sp>
        <p:nvSpPr>
          <p:cNvPr id="70862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069C9"/>
                </a:solidFill>
                <a:latin typeface="Noto Sans TC"/>
                <a:ea typeface="Noto Sans TC"/>
              </a:rPr>
              <a:t>21/32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06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06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2277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技巧五：保留不確定性</a:t>
            </a:r>
          </a:p>
        </p:txBody>
      </p:sp>
      <p:sp>
        <p:nvSpPr>
          <p:cNvPr id="88929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科學傳播不能只追求有趣。</a:t>
            </a:r>
            <a:br/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也要讓限制、誤差、例外有位置。</a:t>
            </a:r>
          </a:p>
        </p:txBody>
      </p:sp>
      <p:sp>
        <p:nvSpPr>
          <p:cNvPr id="10122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069C9"/>
                </a:solidFill>
                <a:latin typeface="Noto Sans TC"/>
                <a:ea typeface="Noto Sans TC"/>
              </a:rPr>
              <a:t>22/32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B3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18A0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18A0D8"/>
          </a:solidFill>
          <a:ln>
            <a:noFill/>
          </a:ln>
        </p:spPr>
        <p:txBody>
          <a:bodyPr/>
          <a:lstStyle/>
          <a:p/>
        </p:txBody>
      </p:sp>
      <p:sp>
        <p:nvSpPr>
          <p:cNvPr id="84708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FFFFFF"/>
                </a:solidFill>
                <a:latin typeface="Noto Sans TC"/>
                <a:ea typeface="Noto Sans TC"/>
              </a:rPr>
              <a:t>AI 時代</a:t>
            </a:r>
          </a:p>
        </p:txBody>
      </p:sp>
      <p:sp>
        <p:nvSpPr>
          <p:cNvPr id="18988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FFFFFF"/>
                </a:solidFill>
                <a:latin typeface="Noto Sans TC"/>
                <a:ea typeface="Noto Sans TC"/>
              </a:rPr>
              <a:t>知識更便宜，判斷更昂貴。</a:t>
            </a:r>
          </a:p>
        </p:txBody>
      </p:sp>
      <p:sp>
        <p:nvSpPr>
          <p:cNvPr id="14529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18A0D8"/>
                </a:solidFill>
                <a:latin typeface="Noto Sans TC"/>
                <a:ea typeface="Noto Sans TC"/>
              </a:rPr>
              <a:t>23/32</a:t>
            </a:r>
          </a:p>
        </p:txBody>
      </p:sp>
      <p:sp>
        <p:nvSpPr>
          <p:cNvPr id="9" name="shape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B33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B3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18A0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18A0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40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FFFFFF"/>
                </a:solidFill>
                <a:latin typeface="Noto Sans TC"/>
                <a:ea typeface="Noto Sans TC"/>
              </a:rPr>
              <a:t>現代人每天都在做測驗</a:t>
            </a:r>
          </a:p>
        </p:txBody>
      </p:sp>
      <p:sp>
        <p:nvSpPr>
          <p:cNvPr id="22729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FFFFFF"/>
                </a:solidFill>
                <a:latin typeface="Noto Sans TC"/>
                <a:ea typeface="Noto Sans TC"/>
              </a:rPr>
              <a:t>不是考卷，是資訊流。</a:t>
            </a:r>
            <a:br/>
            <a:r>
              <a:rPr lang="zh-TW" sz="2300" b="0">
                <a:solidFill>
                  <a:srgbClr val="FFFFFF"/>
                </a:solidFill>
                <a:latin typeface="Noto Sans TC"/>
                <a:ea typeface="Noto Sans TC"/>
              </a:rPr>
              <a:t>健康建議、投資話術、AI 生成內容、社群怒氣。</a:t>
            </a:r>
          </a:p>
        </p:txBody>
      </p:sp>
      <p:sp>
        <p:nvSpPr>
          <p:cNvPr id="27240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18A0D8"/>
                </a:solidFill>
                <a:latin typeface="Noto Sans TC"/>
                <a:ea typeface="Noto Sans TC"/>
              </a:rPr>
              <a:t>24/32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B3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18A0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18A0D8"/>
          </a:solidFill>
          <a:ln>
            <a:noFill/>
          </a:ln>
        </p:spPr>
        <p:txBody>
          <a:bodyPr/>
          <a:lstStyle/>
          <a:p/>
        </p:txBody>
      </p:sp>
      <p:sp>
        <p:nvSpPr>
          <p:cNvPr id="91124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FFFFFF"/>
                </a:solidFill>
                <a:latin typeface="Noto Sans TC"/>
                <a:ea typeface="Noto Sans TC"/>
              </a:rPr>
              <a:t>你怎麼知道這是真的？</a:t>
            </a:r>
          </a:p>
        </p:txBody>
      </p:sp>
      <p:sp>
        <p:nvSpPr>
          <p:cNvPr id="52875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FFFFFF"/>
                </a:solidFill>
                <a:latin typeface="Noto Sans TC"/>
                <a:ea typeface="Noto Sans TC"/>
              </a:rPr>
              <a:t>證據在哪裡？誰說的？怎麼知道的？</a:t>
            </a:r>
            <a:br/>
            <a:r>
              <a:rPr lang="zh-TW" sz="2300" b="0">
                <a:solidFill>
                  <a:srgbClr val="FFFFFF"/>
                </a:solidFill>
                <a:latin typeface="Noto Sans TC"/>
                <a:ea typeface="Noto Sans TC"/>
              </a:rPr>
              <a:t>有沒有反例？能不能被推翻？</a:t>
            </a:r>
          </a:p>
        </p:txBody>
      </p:sp>
      <p:sp>
        <p:nvSpPr>
          <p:cNvPr id="77573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18A0D8"/>
                </a:solidFill>
                <a:latin typeface="Noto Sans TC"/>
                <a:ea typeface="Noto Sans TC"/>
              </a:rPr>
              <a:t>25/32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B3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18A0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18A0D8"/>
          </a:solidFill>
          <a:ln>
            <a:noFill/>
          </a:ln>
        </p:spPr>
        <p:txBody>
          <a:bodyPr/>
          <a:lstStyle/>
          <a:p/>
        </p:txBody>
      </p:sp>
      <p:sp>
        <p:nvSpPr>
          <p:cNvPr id="65648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FFFFFF"/>
                </a:solidFill>
                <a:latin typeface="Noto Sans TC"/>
                <a:ea typeface="Noto Sans TC"/>
              </a:rPr>
              <a:t>我是不是只是在找</a:t>
            </a:r>
          </a:p>
        </p:txBody>
      </p:sp>
      <p:sp>
        <p:nvSpPr>
          <p:cNvPr id="16999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FFFFFF"/>
                </a:solidFill>
                <a:latin typeface="Noto Sans TC"/>
                <a:ea typeface="Noto Sans TC"/>
              </a:rPr>
              <a:t>自己想相信的東西？</a:t>
            </a:r>
          </a:p>
        </p:txBody>
      </p:sp>
      <p:sp>
        <p:nvSpPr>
          <p:cNvPr id="1487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18A0D8"/>
                </a:solidFill>
                <a:latin typeface="Noto Sans TC"/>
                <a:ea typeface="Noto Sans TC"/>
              </a:rPr>
              <a:t>26/32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B3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18A0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18A0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787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FFFFFF"/>
                </a:solidFill>
                <a:latin typeface="Noto Sans TC"/>
                <a:ea typeface="Noto Sans TC"/>
              </a:rPr>
              <a:t>懷疑不是否定一切</a:t>
            </a:r>
          </a:p>
        </p:txBody>
      </p:sp>
      <p:sp>
        <p:nvSpPr>
          <p:cNvPr id="64388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FFFFFF"/>
                </a:solidFill>
                <a:latin typeface="Noto Sans TC"/>
                <a:ea typeface="Noto Sans TC"/>
              </a:rPr>
              <a:t>懷疑是給證據一個上場的機會。</a:t>
            </a:r>
          </a:p>
        </p:txBody>
      </p:sp>
      <p:sp>
        <p:nvSpPr>
          <p:cNvPr id="9057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18A0D8"/>
                </a:solidFill>
                <a:latin typeface="Noto Sans TC"/>
                <a:ea typeface="Noto Sans TC"/>
              </a:rPr>
              <a:t>27/32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6255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FFFFFF"/>
                </a:solidFill>
                <a:latin typeface="Noto Sans TC"/>
                <a:ea typeface="Noto Sans TC"/>
              </a:rPr>
              <a:t>回到 15 歲那個房間</a:t>
            </a:r>
          </a:p>
        </p:txBody>
      </p:sp>
      <p:sp>
        <p:nvSpPr>
          <p:cNvPr id="65026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FFFFFF"/>
                </a:solidFill>
                <a:latin typeface="Noto Sans TC"/>
                <a:ea typeface="Noto Sans TC"/>
              </a:rPr>
              <a:t>那個人手上還拿著考卷。</a:t>
            </a:r>
            <a:br/>
            <a:r>
              <a:rPr lang="zh-TW" sz="2300" b="0">
                <a:solidFill>
                  <a:srgbClr val="FFFFFF"/>
                </a:solidFill>
                <a:latin typeface="Noto Sans TC"/>
                <a:ea typeface="Noto Sans TC"/>
              </a:rPr>
              <a:t>火已經點起來了。</a:t>
            </a:r>
          </a:p>
        </p:txBody>
      </p:sp>
      <p:sp>
        <p:nvSpPr>
          <p:cNvPr id="45561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FFFFFF"/>
                </a:solidFill>
                <a:latin typeface="Noto Sans TC"/>
                <a:ea typeface="Noto Sans TC"/>
              </a:rPr>
              <a:t>28/32</a:t>
            </a:r>
          </a:p>
        </p:txBody>
      </p:sp>
      <p:sp>
        <p:nvSpPr>
          <p:cNvPr id="9" name="shape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4F9E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59317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我不會阻止他</a:t>
            </a:r>
          </a:p>
        </p:txBody>
      </p:sp>
      <p:sp>
        <p:nvSpPr>
          <p:cNvPr id="52378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我不會說：不要放棄。</a:t>
            </a:r>
            <a:br/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我大概也不會急著安慰他。</a:t>
            </a:r>
          </a:p>
        </p:txBody>
      </p:sp>
      <p:sp>
        <p:nvSpPr>
          <p:cNvPr id="48669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A4F9E"/>
                </a:solidFill>
                <a:latin typeface="Noto Sans TC"/>
                <a:ea typeface="Noto Sans TC"/>
              </a:rPr>
              <a:t>29/32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47432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我只會問他一個問題</a:t>
            </a:r>
          </a:p>
        </p:txBody>
      </p:sp>
      <p:sp>
        <p:nvSpPr>
          <p:cNvPr id="13829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你真正討厭的是知識，</a:t>
            </a:r>
            <a:br/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還是那個只准你用分數理解自己的世界？</a:t>
            </a:r>
          </a:p>
        </p:txBody>
      </p:sp>
      <p:sp>
        <p:nvSpPr>
          <p:cNvPr id="21733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A4F9E"/>
                </a:solidFill>
                <a:latin typeface="Noto Sans TC"/>
                <a:ea typeface="Noto Sans TC"/>
              </a:rPr>
              <a:t>30/32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56353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4600" b="1">
                <a:solidFill>
                  <a:srgbClr val="102033"/>
                </a:solidFill>
                <a:latin typeface="Noto Sans TC"/>
                <a:ea typeface="Noto Sans TC"/>
              </a:rPr>
              <a:t>科學素養不是把人變成科學家</a:t>
            </a:r>
          </a:p>
        </p:txBody>
      </p:sp>
      <p:sp>
        <p:nvSpPr>
          <p:cNvPr id="74192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300" b="0">
                <a:solidFill>
                  <a:srgbClr val="102033"/>
                </a:solidFill>
                <a:latin typeface="Noto Sans TC"/>
                <a:ea typeface="Noto Sans TC"/>
              </a:rPr>
              <a:t>它讓人不那麼容易被答案馴服。</a:t>
            </a:r>
          </a:p>
        </p:txBody>
      </p:sp>
      <p:sp>
        <p:nvSpPr>
          <p:cNvPr id="91345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A4F9E"/>
                </a:solidFill>
                <a:latin typeface="Noto Sans TC"/>
                <a:ea typeface="Noto Sans TC"/>
              </a:rPr>
              <a:t>31/32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3"/>
          <p:cNvSpPr/>
          <p:nvPr/>
        </p:nvSpPr>
        <p:spPr>
          <a:xfrm>
            <a:off x="0" y="5900000"/>
            <a:ext cx="12192000" cy="958000"/>
          </a:xfrm>
          <a:prstGeom prst="rect">
            <a:avLst/>
          </a:prstGeom>
          <a:solidFill>
            <a:srgbClr val="EAF3FF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520000" y="520000"/>
            <a:ext cx="140000" cy="4760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880000" y="2320000"/>
            <a:ext cx="2100000" cy="38000"/>
          </a:xfrm>
          <a:prstGeom prst="rect">
            <a:avLst/>
          </a:prstGeom>
          <a:solidFill>
            <a:srgbClr val="0A4F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53" name="title"/>
          <p:cNvSpPr txBox="1"/>
          <p:nvPr/>
        </p:nvSpPr>
        <p:spPr>
          <a:xfrm>
            <a:off x="860000" y="88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5400" b="1">
                <a:solidFill>
                  <a:srgbClr val="102033"/>
                </a:solidFill>
                <a:latin typeface="Noto Sans TC"/>
                <a:ea typeface="Noto Sans TC"/>
              </a:rPr>
              <a:t>好的學習</a:t>
            </a:r>
          </a:p>
        </p:txBody>
      </p:sp>
      <p:sp>
        <p:nvSpPr>
          <p:cNvPr id="85439" name="body"/>
          <p:cNvSpPr txBox="1"/>
          <p:nvPr/>
        </p:nvSpPr>
        <p:spPr>
          <a:xfrm>
            <a:off x="880000" y="280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500" b="0">
                <a:solidFill>
                  <a:srgbClr val="102033"/>
                </a:solidFill>
                <a:latin typeface="Noto Sans TC"/>
                <a:ea typeface="Noto Sans TC"/>
              </a:rPr>
              <a:t>不是讓人更會考試。</a:t>
            </a:r>
            <a:br/>
            <a:r>
              <a:rPr lang="zh-TW" sz="2500" b="0">
                <a:solidFill>
                  <a:srgbClr val="102033"/>
                </a:solidFill>
                <a:latin typeface="Noto Sans TC"/>
                <a:ea typeface="Noto Sans TC"/>
              </a:rPr>
              <a:t>是讓人重新取得提問的權利。</a:t>
            </a:r>
          </a:p>
        </p:txBody>
      </p:sp>
      <p:sp>
        <p:nvSpPr>
          <p:cNvPr id="22808" name="num"/>
          <p:cNvSpPr txBox="1"/>
          <p:nvPr/>
        </p:nvSpPr>
        <p:spPr>
          <a:xfrm>
            <a:off x="10700000" y="52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 b="1">
                <a:solidFill>
                  <a:srgbClr val="0A4F9E"/>
                </a:solidFill>
                <a:latin typeface="Noto Sans TC"/>
                <a:ea typeface="Noto Sans TC"/>
              </a:rPr>
              <a:t>32/32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nSci Blue">
  <a:themeElements>
    <a:clrScheme name="PanSci">
      <a:dk1>
        <a:srgbClr val="102033"/>
      </a:dk1>
      <a:lt1>
        <a:srgbClr val="FFFFFF"/>
      </a:lt1>
      <a:dk2>
        <a:srgbClr val="061B33"/>
      </a:dk2>
      <a:lt2>
        <a:srgbClr val="F8FBFF"/>
      </a:lt2>
      <a:accent1>
        <a:srgbClr val="0A5FB4"/>
      </a:accent1>
      <a:accent2>
        <a:srgbClr val="18A0D8"/>
      </a:accent2>
      <a:accent3>
        <a:srgbClr val="00A7C4"/>
      </a:accent3>
      <a:accent4>
        <a:srgbClr val="0A4F9E"/>
      </a:accent4>
      <a:accent5>
        <a:srgbClr val="1D4ED8"/>
      </a:accent5>
      <a:accent6>
        <a:srgbClr val="EAF3FF"/>
      </a:accent6>
      <a:hlink>
        <a:srgbClr val="0069C9"/>
      </a:hlink>
      <a:folHlink>
        <a:srgbClr val="0069C9"/>
      </a:folHlink>
    </a:clrScheme>
    <a:fontScheme name="Noto">
      <a:majorFont>
        <a:latin typeface="Noto Sans TC"/>
        <a:ea typeface="Noto Sans TC"/>
      </a:majorFont>
      <a:minorFont>
        <a:latin typeface="Noto Sans TC"/>
        <a:ea typeface="Noto Sans TC"/>
      </a:minorFont>
    </a:fontScheme>
    <a:fmtScheme name="clean">
      <a:fillStyleLst/>
      <a:lnStyleLst/>
      <a:effectStyleLst/>
      <a:bgFillStyleLst/>
    </a:fmtScheme>
  </a:themeElements>
</a:theme>
</file>