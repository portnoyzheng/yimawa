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notesMasterIdLst>
    <p:notesMasterId r:id="rIdNotesMaster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請大家先不要急著認識現在的我。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先看一個畫面。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一個 15 歲的男生，蹲在角落，手上拿著打火機。他面前有一疊考卷。火苗很小，紙的邊緣慢慢捲起來，變黑，裂開，最後變成一點一點灰。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那個人是我。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如果這畫面拍成電影，可能會有慢動作，火光照在臉上，背景音樂下得很悲壯，彷彿一個少年正在對抗命運。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現實沒有那麼高級。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現實是紙燒起來有味道，灰燼不好清，還要緊張會不會被發現。這比較像低成本的犯罪現場重建，沒有美感，只有一個很煩躁的國中生，正在用非常笨拙的方法，對考試制度提出意見。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那時我燒掉的看起來是考卷。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但我真正想燒掉的，是那些考卷背後的判決。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每一張考卷都像一份證明文件。證明我不夠聰明，證明我不適合數學，證明我不適合科學，甚至證明我不適合學習。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15 歲的我當然沒有能力這樣分析自己。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他只覺得煩。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覺得丟臉。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覺得憤怒。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然後很快得到一個粗糙的結論：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我討厭讀書。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更精確一點，我討厭數學。討厭科學。討厭考試。討厭學校。討厭所有拿著標準答案靠近我的東西。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很多年後，我開始做科學傳播，創辦泛科學，主持知識型 YouTube 節目，跟科學家、工程師、研究者合作，把複雜的知識講給一般人聽。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如果把這兩個畫面放在一起，就很荒謬。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一邊是燒考卷的少年。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一邊是站在這裡談科學素養的人。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今天我想講的，就是這中間到底發生了什麼。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但我不想把它講成「一個差生後來逆襲成功」的故事。那種故事太平滑，像便利商店的微波食品，看起來完整，吃起來也熱，但你知道它少了很多東西。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我比較想把它當成一個案例來拆。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一個人為什麼會討厭學習？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一個人為什麼會把「我不會」誤判成「我不行」？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知識在什麼時候會變成刑具？又在什麼時候會重新變成工具？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最後，我們如何從答案的壓迫裡走出來，重新取得提問的權利？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我以前很討厭數學。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但今天回頭看，數學本人其實沒有對我怎樣。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方程式沒有霸凌我。三角函數也沒有半夜傳訊息羞辱我。真正讓我受不了的，是每一次我算不出來，每一次我考不好，每一次我看著別人好像很輕鬆就懂，心裡就冒出一個聲音：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你看，你就是這種人。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這是學習裡很可怕的一步。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一個人一開始只是某個概念卡住，某個符號看不懂，某個題型沒有練熟。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但在學校裡，這些局部失敗很容易升級成整體判決。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你這題不會。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然後變成你數學不好。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再變成你頭腦不好。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再變成你大概沒救。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這種推論速度很快，品質很差，傷害很大。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它沒有經過審稿，也沒有對照組，甚至連樣本數都很可疑。可是很多學生就是這樣把自己判掉的。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我那時候也差不多。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幾次考不好，幾次聽不懂，幾次被挫敗打中，最後我乾脆把整個學習系統都打入冷宮。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你們也知道，青少年很擅長把局部戰敗包裝成哲學立場。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「我又不在乎。」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「這種東西學了有什麼用？」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「人生又不是只有考試。」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這些話有時候是真的，有時候只是防禦。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先說自己不在乎，就不用承認自己其實很受傷。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這裡我想先講第一個科學素養概念：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測量結果，不應該直接變成人的身分。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考試是一種測量。測量當然有用。沒有測量，我們很難知道學習狀況，也很難知道哪裡需要補強。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但任何測量都有範圍、有方法、有誤差，也有它看不見的東西。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一張考卷可以測出你在某個時間點、某種題型、某套評分標準下答得如何。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它測不出你的全部理解能力。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它測不出你未來能走到哪裡。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它更測不出你這個人的價值。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問題是，我們很容易把測量結果當成身分。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一次失敗，變成性格。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幾張考卷，變成人生預言。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這其實很不科學。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如果一個實驗只做幾次，樣本很少，條件也沒有控制好，我們通常不會急著下結論。可是在看待自己的時候，人類常常用最低品質的證據，做出最嚴重的判決。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我那時候就是這樣。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我用幾張考卷，判定自己不適合知識。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這個推論很爛。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但我信了很久。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真正的改變，沒有發生在某一堂自然課。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也沒有發生在某一本神奇的科普書。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真正的轉折，出現在我念研究所的時候。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那時候我參加很多社會運動。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我看到很多不公不義。土地、勞動、環境、媒體、政治、科技治理，各種議題一個接一個出現。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你在現場會很容易被點燃。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有些事情確實讓人生氣。那種生氣也有必要。對不公義完全無感，聽起來也不是什麼值得鼓勵的成熟，可能只是靈魂進入省電模式。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可是參與久了，我開始發現一件很麻煩的事。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我有立場。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我有情緒。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我也覺得自己站在對的一邊。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但很多時候，我其實沒有足夠的理解能力。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我排斥科學太久了。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排斥數字，排斥模型，排斥技術細節，排斥那些看起來冷冰冰的分析工具。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結果就是，很多議題我很想表態，卻不一定有能力判斷。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環境議題需要科學。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能源議題需要科學。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醫療議題需要科學。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食品安全需要科學。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科技政策需要科學。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連媒體識讀、民調、風險溝通、公共政策，也都需要基本的統計與證據判斷。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你可以很有正義感，但如果理解工具不足，正義感很容易被別人代管。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那時候我開始覺得不安。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因為我發現自己有時候站得很快，理解得很慢。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口號會喊，資料不會看。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情緒很滿，證據很薄。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這種狀態很危險。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如果我要認真面對世界，而不是只在世界面前擺姿勢，我就不能繼續逃避那些自己以前討厭的東西。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我後來常常想，年輕時參加社會運動對我很重要。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它讓我知道，知識不只存在於課本裡。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知識會進入街頭，進入法規，進入預算，進入工廠，進入醫院，進入新聞標題，最後進入每個人的生活。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你以為自己只是討厭數學。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後來才知道，沒有數字能力，你會看不懂政策。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你以為自己只是討厭科學。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後來才知道，沒有科學素養，你會在重要議題上失去判斷力。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你以為自己只是討厭考試。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後來才知道，世界每天都在考你，而且題目沒有選項，還常常有人故意把題目印錯。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研究所時期的我，慢慢被迫承認一件事：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我以前對科學的排斥，讓我少了一套理解世界的工具。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這個承認不太舒服。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因為它等於承認：我過去有些自信，可能只是無知保護膜。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這層膜滿好用的，像手機保護貼。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但它不防摔，只防你看清楚。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研究所對我的另一個影響，是學習型態徹底翻轉。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以前上課很像接收指令。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老師講，我聽。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老師寫，我抄。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老師出題，我答。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老師公布答案，我檢討自己為什麼又錯。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但研究所不太一樣。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尤其我念傳播學、社會學，那種訓練很不一樣。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你要讀文本。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你要報告。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你要提出問題。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你要跟同學討論。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你要被教授追問。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你以為自己講得很有道理，老師一句「你的概念定義是什麼？」你就開始冒冷汗。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你以為自己掌握了全局，同學補一句「可是另一個案例好像相反」，整個論證當場像豆腐渣工程。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那種學習不再只是被灌輸。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比較像進入一個思想的修羅場。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大家把概念、資料、立場、方法丟到桌上，一起拆，一起吵，一起修。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有時候討論完，答案沒有變多，問題變多了。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但很奇怪，那反而讓我重新有了學習動力。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因為我第一次強烈感覺到：學習可以是主動的。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我不只是等著被判分。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我可以提出問題。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我可以挑戰文本。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我可以把不同領域的知識接起來。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我可以為了理解一個議題，自己去找資料，讀研究，問人，整理，寫下來，再拿出來被別人攻擊。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當然，被攻擊不好受。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但研究所的好處是，大家攻擊的是你的論證，不是你的人格。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至少理想上是這樣。現實中偶爾也會打到人格，學術界也沒有那麼仙。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但整體來說，那是我第一次重新感覺到：學習不是單方面挨打。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它也可以像自己組裝裝備。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那個階段，我開始重新學習。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不是為了考試。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也不是為了證明自己是好學生。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而是因為我真的需要。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我需要知道媒體如何塑造公共議題。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我需要知道社會運動如何動員。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我需要知道權力如何透過語言運作。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我需要知道科技如何改變社會。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我也需要知道，當一個科學研究被媒體報導時，中間到底發生了多少轉譯、誤解、誇大與簡化。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這些問題逼著我回去面對知識。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而且很殘酷地發現，很多知識不會因為討厭它就消失。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統計不會因為你不看，它就自己退出公共政策。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科學不會因為你覺得它很硬，它就乖乖變軟。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資料也不會因為你有立場，就自動站到你這邊。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它們都在那裡。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你要嘛學會使用它們。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要嘛看著別人使用它們，然後決定你相信誰。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我就是在那個時候，慢慢從一個討厭學習的人，變成一個不得不學的人。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這個「不得不」很重要。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好奇心有時候不是天生的。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有時候是被現實逼出來的。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世界太複雜，你不學，就只能交給別人替你解釋。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所以我後來對科學素養的理解，跟以前很不一樣。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以前我以為科學素養就是知道很多知識。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知道地球繞太陽。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知道 DNA 是雙螺旋。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知道 E=mc²，雖然大部分人知道這個公式，也只是知道愛因斯坦的周邊商品很強。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後來我才慢慢覺得，科學素養的核心是面對未知的方法。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當你遇到一個陌生說法，你怎麼處理？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你會立刻相信？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立刻反對？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立刻轉傳？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立刻截圖發限動？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還是先停一下，問幾個基本問題：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這是誰說的？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證據在哪裡？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這個證據品質如何？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有沒有其他解釋？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這是相關，還是因果？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這個結論能不能被推翻？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如果明天有更好的證據，我願不願意修正？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這些問題聽起來沒有很華麗。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甚至有點囉嗦。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但理性本來就常常長得很囉嗦。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謠言比較性感。陰謀論比較有戲。極端立場比較容易剪成短影音。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證據通常很樸素，還會附註限制條件。很不適合當網紅，但很適合救命。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我後來很喜歡科學的一點，是它有一種脾氣。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那種脾氣叫做：晚一點下結論。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人類很不喜歡不確定。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看到一個現象，就想立刻解釋。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看到一個標題，就想立刻表態。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看到一個人說得很有自信，就想立刻相信，或立刻開戰。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但科學訓練你做一件違反本能的事：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停一下。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你怎麼知道？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證據在哪裡？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方法可靠嗎？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有沒有對照組？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樣本多大？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效果多大？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有沒有利益衝突？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這些問題像一組煞車系統。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沒有煞車的人，跑得再快都危險。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這也是我從社運經驗裡學到的事。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公共議題很需要熱情。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但熱情如果沒有判斷力，會變成燃料外洩。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很亮，很熱，也很容易爆。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後來我開始做科學傳播。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一開始我最在意的，其實不是「我要讓大家愛科學」。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這句話太偉大，我承擔不起。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我比較在意的是：能不能把事情講清楚？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很多專業知識很有價值，但一般人進不去。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不是因為一般人笨。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很多時候是入口設計太差。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有些文章一開頭就丟術語。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有些專家講話像直接把論文摘要朗讀出來。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有些科學家非常厲害，但溝通風格彷彿在測試人類耐心極限。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所以科學傳播的工作，就是替觀眾找到入口。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你不能要求觀眾一開始就關心你的研究。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觀眾沒有欠你。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你要先找到他已經在乎的問題。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他在乎健康。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在乎孩子。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在乎工作。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在乎錢。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在乎未來會不會被 AI 取代。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在乎為什麼社會這麼吵。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在乎今天滑手機看到的健康資訊到底能不能信。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從這裡開門，觀眾比較願意進來。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不要一開始就說：「今天我們要介紹粒線體的功能。」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你可以先問：「為什麼你明明睡很久，還是覺得累？」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不要一開始就說：「今天我們要介紹氣候模型。」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你可以先問：「為什麼一場暴雨，可以讓城市突然停擺？」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不要一開始就說：「今天我們要談統計顯著性。」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你可以先問：「為什麼一篇研究說有效，另一篇又說沒用？」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這不是討好。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這是基本的溝通工程。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專業的人已經住在知識裡很久了。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觀眾還站在門外。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你不能隔著牆罵他怎麼還不進來。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你要先告訴他門在哪裡。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後來做泛科學，我慢慢發現一件事：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知識有不同速度。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有些知識很快。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像新聞，今天不講，明天就被下一則蓋過去。它像手機通知，一直跳，一直震，震到你懷疑手機比你還有社交生活。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有些知識中速。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像科技趨勢，它變化很快，但背後有比較長的脈絡。AI、半導體、太空、能源、生醫，表面上每天都有新消息，但如果只追著新聞跑，很容易只看到浪花，看不到海流。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還有些知識很慢。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它不急著搶今天的流量，也不只為了趕上明天的話題。它需要時間沉澱，需要把一個問題慢慢拆開，看它的歷史、方法、爭議與人性。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所以我們後來做內容，不只問：「這題能不能紅？」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那個問題很現實，我們當然也會問。不問的人通常不是很高尚，是沒有在經營媒體。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但更核心的問題是：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這種知識，適合用什麼速度被理解？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因為新聞、科技趨勢變化太快，所以我們做科學主題正片。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大概 10 到 15 分鐘，讓觀眾可以在一段完整的時間裡，理解一個重要主題。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例如 AI 為什麼突然改變產業？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半導體為什麼牽動國際政治？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太空任務到底在爭什麼？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能源轉型為什麼永遠吵不完？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這類內容的任務，不只是告訴你「發生了什麼」，還要幫你看到「為什麼這件事重要」。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如果新聞是一顆一顆點，主題正片就是把點連成線。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它很像替觀眾做一張簡易地圖。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不可能把整個世界都畫進去，但至少讓你知道自己站在哪裡，附近有哪些山，哪裡可能有坑，哪一條路看起來很熱鬧但可能通往懸崖。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15 分鐘不長。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但在今天的網路環境裡，15 分鐘已經像長篇史詩。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所以每一分鐘都要有用。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你要提供脈絡、衝突、例子、轉折，也要讓觀眾覺得自己沒有被困在一場小型期末考裡。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因為新研究太多，所以我們做 3 分鐘的泛科學新聞。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每天都有論文發表，每週都有新發現，每個研究都說自己很重要。觀眾不可能全部讀完，連我們自己都不可能全部讀完，不然就不是做媒體，是修仙。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泛科學新聞的任務，是幫大家快速掌握最近有哪些值得注意的新研究。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它要短。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要快。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要有趣。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也要守住基本準確性。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3 分鐘看起來很短，但其實很殘酷。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因為時間越短，越不能亂講。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你沒有空間鋪陳太多廢話，也沒有空間塞一堆裝飾。每一句都要有用，每一個笑點都不能把知識帶歪。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這很像用小刀做手術。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刀很小，但你不能亂揮。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有時候一篇研究本身很複雜，你只能選擇最重要的那條線索，把它講清楚。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這也訓練我們：什麼是核心？什麼是背景？什麼是可以刪掉的枝節？什麼是刪掉就會出事的關鍵？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短內容不是比較簡單。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短內容只是錯誤比較快暴露。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但科學不只求新。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科學也需要慢。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所以我們做「慢科學」。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有些題目不適合被壓縮成 3 分鐘，也不適合只用 15 分鐘抓重點。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例如冰芯、宇宙觀測、地球深時、氣候變遷、光與影、海洋環流。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這些題目需要一種比較慢的節奏。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不是因為它們比較無聊。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剛好相反，是因為它們太大、太深、太容易被講扁。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慢科學想做的，是讓觀眾在一段比較長的時間裡，跟著一個問題往下走。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不用急著知道答案。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先看科學家怎麼問問題，怎麼採樣，怎麼犯錯，怎麼修正，怎麼用很漫長的方法，逼近一個暫時可信的理解。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這對我來說，也很像科學素養本身。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快的時候，要能判斷。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慢的時候，要能停留。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我們現在很習慣把所有東西都變快。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倍速播放，快速摘要，一分鐘懂，三分鐘搞懂，五分鐘精通。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但有些東西不能精通得太快。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太快精通的，通常只是誤會得很完整。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所以你會發現，我們做的其實不是一種內容，而是一整套理解世界的工具箱。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主題正片，處理大脈絡。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泛科學新聞，處理新研究。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慢科學，處理時間、方法與深度。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這三種格式背後，都有同一個問題：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觀眾現在需要什麼樣的入口？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他是需要快速知道「最近發生什麼」？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還是需要 15 分鐘理解「這件事為什麼重要」？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還是需要慢下來，重新感覺科學如何工作？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這也是我後來對科學傳播的理解。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科學傳播不能把所有知識都塞進同一個容器。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有些知識需要速度。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有些知識需要結構。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有些知識需要沉默一下，讓它慢慢展開。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媒體常常追求更快。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但知識不會因為你剪得比較快，就自動變得比較清楚。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科學傳播很常使用比喻。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比喻很好用，因為它可以把陌生概念接到熟悉經驗上。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但比喻也很危險。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因為比喻一旦太順，觀眾就會忘記它只是比喻。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例如我們說「大腦像電腦」，這有幫助，因為它讓人理解輸入、處理、輸出。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但大腦跟電腦差很多。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如果忘記邊界，誤解就會出現。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我自己的原則是：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比喻是鷹架。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鷹架讓你爬上去，看見原本看不到的結構。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等你站穩了，它就可以拆。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如果觀眾最後只記得比喻，原理卻理解錯，那就有問題。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所以好的科學傳播不只要會講故事，也要會拆故事。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哪裡可以戲劇化？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哪裡必須冷靜？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哪裡可以開玩笑？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哪裡玩笑一開，知識就變形？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這些判斷都很細。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科學傳播不是把難的東西講得很可愛就結束。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有些知識不能亂可愛。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把黑洞講得太萌，黑洞不會抗議，但觀眾可能會真的以為它只是宇宙版吸塵器。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我做科學內容時，最常面對的拉扯，是注意力與準確性。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如果只追求準確，內容可能變成論文摘要，沒有人想看。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如果只追求注意力，就很容易誇大、恐嚇、灑狗血。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所以我們需要故事。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故事讓人願意上船。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但船要能航行，不能只有漂亮外殼。它需要龍骨。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科學傳播的龍骨，就是證據。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我可以用開場吸引你，可以用幽默讓你留下來，可以用比喻幫你理解。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但最後一定要回到證據。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這是研究，還是個案？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是人體研究、動物研究，還是細胞研究？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樣本多少？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效果多大？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研究者自己怎麼說限制？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媒體標題有沒有把它放大？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如果沒有這些，故事再漂亮，也只是一艘會漏水的船。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而且漏水的船通常很會拍照。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現在社群媒體上很多資訊就是這樣：封面漂亮、標題刺激、留言區熱鬧，結果底下一看，連研究連結都沒有。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這種內容不一定是壞人做的。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有時候只是大家太急著有趣，忘記知識也有承重限制。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幽默在科學傳播裡也很重要。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但幽默不是為了把知識變輕浮。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它的功能比較像潤滑劑。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很多知識很硬，直接塞給觀眾，觀眾會受傷，知識也會受傷。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幽默可以降低摩擦，讓人願意多聽幾分鐘。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但幽默也有風險。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如果笑點蓋過知識，觀眾最後只記得梗，不記得重點，那就變成我們替科學辦了一場很熱鬧的告別式。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所以我自己會希望，幽默要服務理解。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它可以讓一個概念更容易進入。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它可以讓觀眾在緊繃的議題裡有一點呼吸空間。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它也可以提醒大家：科學不必永遠板著臉。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但幽默不能讓證據消失。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不能讓不確定性消失。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不能讓一個複雜問題變成廉價嘲笑。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科學傳播最難的地方，就在這裡。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你要讓觀眾願意靠近，又不能把知識磨到失去稜角。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我以前很怕不知道。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學生時代，不知道通常代表你要被扣分。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你不知道，就沉默，就尷尬，就等著被看穿。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可是後來我慢慢發現，「不知道」其實沒有那麼可恥。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真正危險的是亂知道。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不知道，至少還有機會查。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亂知道，會讓你帶著錯誤的自信往前衝。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這在 AI 時代更明顯。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現在我們每個人手上都有很強的工具，可以快速生成文字、圖像、摘要、簡報、分析。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這些工具很強，強到讓人忘記一件事：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流暢不等於正確。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說得像真的，不代表它是真的。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格式漂亮，不代表推論成立。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AI 可以幫你整理，但不能替你負責。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它很像一個超級勤奮的助理，有時候資料整理得很好，有時候也會用非常穩定的語氣胡說八道。這點其實跟人類很像，只是 AI 不會尷尬。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 AI 時代的科學素養會更硬。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你要更會問來源。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更會查原始資料。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更能分辨「整理得很好」和「講得對」之間的差別。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也更能說出那句很重要的話：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這題我現在不知道，我需要查。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這句話不丟臉。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它是理性工作的起點。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如果回頭看，我這些年做泛科學、做 YouTube、做知識內容，其實都在處理同一個問題：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很多人並非不關心知識。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他們只是曾經被知識拒於門外。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有些人被術語擋住。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有些人被考試嚇跑。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有些人被專家口吻推開。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有些人曾經問了一個問題，卻被笑太笨。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久了之後，他們就不問了。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這很可惜。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因為不問問題的人，心裡不見得沒有問題。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他只是學會把問題吞回去。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我現在做的工作，就是盡量把那些門重新打開。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告訴大家，你可以問。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你可以不懂。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你可以從很粗糙的問題開始。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但也不能永遠停在粗糙。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你可以問：「這到底真的假的？」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接著問：「證據是什麼？」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再問：「這份證據品質好不好？」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再問：「有沒有不同研究得到不同結果？」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最後問：「我現在可以做出多大程度的判斷？」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這就是科學素養的肌肉。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它不是一次長出來的。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它靠反覆使用。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跟真正的肌肉一樣，平常不用，要用的時候就會抽筋。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最後，我想回到開場那個畫面。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15 歲的我，蹲在那裡燒考卷。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如果我今天能走回那個空地，站在他旁邊，我不會急著把打火機搶走。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我也不會說：「你以後會變得很成功，所以現在不要難過。」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這種安慰太粗糙，而且青少年通常聽到這種話，只會更想把東西燒完。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我比較想蹲下來，看著那堆正在變黑的紙，跟他說：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你現在很痛，這是真的。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你現在覺得自己不行，這也是真的，至少那是你此刻最強烈的感覺。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但你現在對自己的判決，證據不足。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你可以討厭考試。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你可以討厭那套讓你覺得自己很失敗的制度。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你甚至可以暫時討厭學習。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但先不要把知識整個判死刑。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因為有一天，你會遇到一些事情。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你會發現，世界比考卷複雜很多。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它不會把題目印好，也不會附上標準答案。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它會丟給你新聞、爭議、數據、立場、情緒、專家意見，還有各種看起來很有道理的說法。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那時候你會需要工具。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你會需要判斷。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你會需要重新學會問：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這件事到底怎麼知道的？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我現在相信的東西，證據夠不夠？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有沒有可能，我只是太快下結論？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那時候，學習會回來。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不一定浪漫。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也不一定輕鬆。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但它會變得有用。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當年燒掉考卷的火，後來變成我追問世界的火。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它讓我去問：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為什麼這個世界會這樣運作？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為什麼一個說法聽起來很順，查下去卻沒那麼簡單？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為什麼不同的人看見同一件事，會得到完全不同的結論？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證據在哪裡？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有沒有別的解釋？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我們能不能知道得更準一點？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能不能把一件複雜的事，講到更多人可以理解、可以判斷、可以參與？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所以我後來覺得，科學素養不只是記住答案。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3" name="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Autofit/>
          </a:bodyPr>
          <a:lstStyle/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它比較像是讓一個人心裡那把火，從焚毀理解，慢慢轉向照亮問題。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那把火不一定要很大。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有時候，只要它還在，你就不會太快放棄追問。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不會太快把自己判掉。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也不會太快把世界交給別人的答案。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當年燒掉考卷的火，後來變成我追問世界的火。</a:t>
            </a:r>
            <a:endParaRPr/>
          </a:p>
          <a:p>
            <a:pPr algn="l">
              <a:buNone/>
            </a:pPr>
            <a:r>
              <a:rPr lang="zh-TW" sz="1200" b="0">
                <a:solidFill>
                  <a:srgbClr val="000000"/>
                </a:solidFill>
                <a:latin typeface="Noto Sans TC"/>
                <a:ea typeface="Noto Sans TC"/>
                <a:cs typeface="Noto Sans TC"/>
              </a:rPr>
              <a:t>謝謝大家。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先看一個畫面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低成本犯罪現場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我討厭讀書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兩個荒謬畫面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知識何時變刑具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數學沒有霸凌我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局部失敗變判決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不在乎也是防禦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成績只是測量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不要用低品質證據判自己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轉折在研究所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站隊很快</a:t>
            </a:r>
            <a:endParaRPr/>
          </a:p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理解很慢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正義感不能被代管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知識會進入生活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無知保護膜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學習型態翻轉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思想的修羅場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攻擊論證</a:t>
            </a:r>
            <a:endParaRPr/>
          </a:p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不是人格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不是為了證明好學生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知識不會因討厭而消失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好奇心被現實逼出來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科學素養不是背答案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先停一下再判斷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科學的脾氣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熱情需要煞車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開始做科學傳播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替觀眾找到入口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不要從名詞開始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門在哪裡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知識有不同速度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什麼速度適合理解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15 分鐘抓大脈絡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把點連成線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3 分鐘掌握新研究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短內容不是比較簡單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科學也需要慢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慢下來才能看見方法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一整套理解工具箱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不同知識</a:t>
            </a:r>
            <a:endParaRPr/>
          </a:p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不同容器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比喻是鷹架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會講故事</a:t>
            </a:r>
            <a:endParaRPr/>
          </a:p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也要會拆故事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注意力與準確性的拉扯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故事要有證據龍骨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幽默降低摩擦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幽默要服務理解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不知道不可恥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流暢不等於正確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我需要查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把門重新打開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從粗糙問題開始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科學素養的肌肉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回到那場火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判決</a:t>
            </a:r>
            <a:endParaRPr/>
          </a:p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證據不足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世界不附標準答案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火變成追問世界的火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5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4850000" y="1220000"/>
            <a:ext cx="2220000" cy="900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ue"/>
          <p:cNvSpPr txBox="1"/>
          <p:nvPr/>
        </p:nvSpPr>
        <p:spPr>
          <a:xfrm>
            <a:off x="1250000" y="2050000"/>
            <a:ext cx="9700000" cy="1850000"/>
          </a:xfrm>
          <a:prstGeom prst="rect">
            <a:avLst/>
          </a:prstGeom>
          <a:noFill/>
          <a:ln>
            <a:noFill/>
          </a:ln>
        </p:spPr>
        <p:txBody>
          <a:bodyPr anchor="mid" wrap="square" lIns="0" rIns="0" tIns="0" bIns="0">
            <a:noAutofit/>
          </a:bodyPr>
          <a:lstStyle/>
          <a:p>
            <a:pPr algn="ctr">
              <a:buNone/>
            </a:pPr>
            <a:r>
              <a:rPr lang="zh-TW" sz="4100" b="1">
                <a:solidFill>
                  <a:srgbClr val="F8FBFF"/>
                </a:solidFill>
                <a:latin typeface="Noto Sans TC"/>
                <a:ea typeface="Noto Sans TC"/>
                <a:cs typeface="Noto Sans TC"/>
              </a:rPr>
              <a:t>把火留給好奇心</a:t>
            </a:r>
            <a:endParaRPr/>
          </a:p>
        </p:txBody>
      </p:sp>
      <p:sp>
        <p:nvSpPr>
          <p:cNvPr id="5" name="safe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ntral Science">
  <a:themeElements>
    <a:clrScheme name="Central">
      <a:dk1>
        <a:srgbClr val="0F2133"/>
      </a:dk1>
      <a:lt1>
        <a:srgbClr val="FFFFFF"/>
      </a:lt1>
      <a:dk2>
        <a:srgbClr val="061B33"/>
      </a:dk2>
      <a:lt2>
        <a:srgbClr val="F8FBFF"/>
      </a:lt2>
      <a:accent1>
        <a:srgbClr val="0A5FB4"/>
      </a:accent1>
      <a:accent2>
        <a:srgbClr val="18A0D8"/>
      </a:accent2>
      <a:accent3>
        <a:srgbClr val="FF7A1A"/>
      </a:accent3>
      <a:accent4>
        <a:srgbClr val="00A7C4"/>
      </a:accent4>
      <a:accent5>
        <a:srgbClr val="1D4ED8"/>
      </a:accent5>
      <a:accent6>
        <a:srgbClr val="EAF3FF"/>
      </a:accent6>
      <a:hlink>
        <a:srgbClr val="0069C9"/>
      </a:hlink>
      <a:folHlink>
        <a:srgbClr val="0069C9"/>
      </a:folHlink>
    </a:clrScheme>
    <a:fontScheme name="Noto">
      <a:majorFont>
        <a:latin typeface="Noto Sans TC"/>
        <a:ea typeface="Noto Sans TC"/>
      </a:majorFont>
      <a:minorFont>
        <a:latin typeface="Noto Sans TC"/>
        <a:ea typeface="Noto Sans TC"/>
      </a:minorFont>
    </a:fontScheme>
    <a:fmtScheme name="clean">
      <a:fillStyleLst/>
      <a:lnStyleLst/>
      <a:effectStyleLst/>
      <a:bgFillStyleLst/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