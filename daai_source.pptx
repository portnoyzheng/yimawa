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1675"/>
  <p:notesSz cx="6858000" cy="12191675"/>
  <p:embeddedFontLst>
    <p:embeddedFont>
      <p:font typeface="Noto Sans Medium"/>
      <p:regular r:id="rId31"/>
      <p:bold r:id="rId32"/>
      <p:italic r:id="rId33"/>
      <p:boldItalic r:id="rId34"/>
    </p:embeddedFont>
    <p:embeddedFont>
      <p:font typeface="Noto Sans"/>
      <p:regular r:id="rId35"/>
      <p:bold r:id="rId36"/>
      <p:italic r:id="rId37"/>
      <p:boldItalic r:id="rId38"/>
    </p:embeddedFont>
    <p:embeddedFont>
      <p:font typeface="Noto Sans Black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hTs9+jjd86gL9tOG0RvIcx803QF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林玫妤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Black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otoSansMedium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NotoSansMedium-italic.fntdata"/><Relationship Id="rId10" Type="http://schemas.openxmlformats.org/officeDocument/2006/relationships/slide" Target="slides/slide5.xml"/><Relationship Id="rId32" Type="http://schemas.openxmlformats.org/officeDocument/2006/relationships/font" Target="fonts/NotoSansMedium-bold.fntdata"/><Relationship Id="rId13" Type="http://schemas.openxmlformats.org/officeDocument/2006/relationships/slide" Target="slides/slide8.xml"/><Relationship Id="rId35" Type="http://schemas.openxmlformats.org/officeDocument/2006/relationships/font" Target="fonts/NotoSans-regular.fntdata"/><Relationship Id="rId12" Type="http://schemas.openxmlformats.org/officeDocument/2006/relationships/slide" Target="slides/slide7.xml"/><Relationship Id="rId34" Type="http://schemas.openxmlformats.org/officeDocument/2006/relationships/font" Target="fonts/NotoSans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NotoSans-italic.fntdata"/><Relationship Id="rId14" Type="http://schemas.openxmlformats.org/officeDocument/2006/relationships/slide" Target="slides/slide9.xml"/><Relationship Id="rId36" Type="http://schemas.openxmlformats.org/officeDocument/2006/relationships/font" Target="fonts/NotoSans-bold.fntdata"/><Relationship Id="rId17" Type="http://schemas.openxmlformats.org/officeDocument/2006/relationships/slide" Target="slides/slide12.xml"/><Relationship Id="rId39" Type="http://schemas.openxmlformats.org/officeDocument/2006/relationships/font" Target="fonts/NotoSansBlack-bold.fntdata"/><Relationship Id="rId16" Type="http://schemas.openxmlformats.org/officeDocument/2006/relationships/slide" Target="slides/slide11.xml"/><Relationship Id="rId38" Type="http://schemas.openxmlformats.org/officeDocument/2006/relationships/font" Target="fonts/Noto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28T08:55:17.534">
    <p:pos x="6000" y="0"/>
    <p:text>標題會往右移動一點，避開左上節目LOGO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4xQYmL4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"/>
          <p:cNvGrpSpPr/>
          <p:nvPr/>
        </p:nvGrpSpPr>
        <p:grpSpPr>
          <a:xfrm>
            <a:off x="8382000" y="-476250"/>
            <a:ext cx="4286250" cy="7834331"/>
            <a:chOff x="8382000" y="-476250"/>
            <a:chExt cx="4286250" cy="7834331"/>
          </a:xfrm>
        </p:grpSpPr>
        <p:sp>
          <p:nvSpPr>
            <p:cNvPr id="17" name="Google Shape;17;p1"/>
            <p:cNvSpPr/>
            <p:nvPr/>
          </p:nvSpPr>
          <p:spPr>
            <a:xfrm>
              <a:off x="8382000" y="0"/>
              <a:ext cx="3810000" cy="6858000"/>
            </a:xfrm>
            <a:prstGeom prst="rect">
              <a:avLst/>
            </a:prstGeom>
            <a:solidFill>
              <a:srgbClr val="0B4F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" name="Google Shape;18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82000" y="0"/>
              <a:ext cx="7620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"/>
            <p:cNvSpPr/>
            <p:nvPr/>
          </p:nvSpPr>
          <p:spPr>
            <a:xfrm>
              <a:off x="9810750" y="-476250"/>
              <a:ext cx="2857500" cy="2857500"/>
            </a:xfrm>
            <a:prstGeom prst="ellipse">
              <a:avLst/>
            </a:prstGeom>
            <a:solidFill>
              <a:srgbClr val="2D76D6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 rot="900209">
              <a:off x="10477408" y="5238807"/>
              <a:ext cx="1905146" cy="1905146"/>
            </a:xfrm>
            <a:prstGeom prst="roundRect">
              <a:avLst>
                <a:gd fmla="val 20000" name="adj"/>
              </a:avLst>
            </a:prstGeom>
            <a:solidFill>
              <a:srgbClr val="19BBD4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" name="Google Shape;21;p1"/>
          <p:cNvGrpSpPr/>
          <p:nvPr/>
        </p:nvGrpSpPr>
        <p:grpSpPr>
          <a:xfrm>
            <a:off x="762000" y="1524000"/>
            <a:ext cx="7143900" cy="3143250"/>
            <a:chOff x="762000" y="1524000"/>
            <a:chExt cx="7143900" cy="3143250"/>
          </a:xfrm>
        </p:grpSpPr>
        <p:sp>
          <p:nvSpPr>
            <p:cNvPr id="22" name="Google Shape;22;p1"/>
            <p:cNvSpPr txBox="1"/>
            <p:nvPr/>
          </p:nvSpPr>
          <p:spPr>
            <a:xfrm>
              <a:off x="762000" y="1524000"/>
              <a:ext cx="7143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4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未知寄給</a:t>
              </a:r>
              <a:br>
                <a:rPr b="0" lang="en-US" sz="64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</a:br>
              <a:r>
                <a:rPr b="0" lang="en-US" sz="64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你的邀請函</a:t>
              </a:r>
              <a:endParaRPr b="0" sz="64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762000" y="381000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19BB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1"/>
            <p:cNvSpPr txBox="1"/>
            <p:nvPr/>
          </p:nvSpPr>
          <p:spPr>
            <a:xfrm>
              <a:off x="762000" y="4095750"/>
              <a:ext cx="7143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為何「</a:t>
              </a:r>
              <a:r>
                <a:rPr b="1" lang="en-US" sz="22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泛科學</a:t>
              </a:r>
              <a:r>
                <a:rPr b="1" lang="en-US" sz="22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」？</a:t>
              </a:r>
              <a:endParaRPr b="1" sz="22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25" name="Google Shape;25;p1"/>
          <p:cNvGrpSpPr/>
          <p:nvPr/>
        </p:nvGrpSpPr>
        <p:grpSpPr>
          <a:xfrm>
            <a:off x="762000" y="5143500"/>
            <a:ext cx="4572000" cy="952500"/>
            <a:chOff x="762000" y="5143500"/>
            <a:chExt cx="4572000" cy="952500"/>
          </a:xfrm>
        </p:grpSpPr>
        <p:sp>
          <p:nvSpPr>
            <p:cNvPr id="26" name="Google Shape;26;p1"/>
            <p:cNvSpPr/>
            <p:nvPr/>
          </p:nvSpPr>
          <p:spPr>
            <a:xfrm>
              <a:off x="762000" y="5143500"/>
              <a:ext cx="4572000" cy="952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DDE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904875" y="5286375"/>
              <a:ext cx="666900" cy="666900"/>
            </a:xfrm>
            <a:prstGeom prst="ellipse">
              <a:avLst/>
            </a:prstGeom>
            <a:solidFill>
              <a:srgbClr val="0B4F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1"/>
            <p:cNvSpPr txBox="1"/>
            <p:nvPr/>
          </p:nvSpPr>
          <p:spPr>
            <a:xfrm>
              <a:off x="952500" y="5377815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3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9" name="Google Shape;29;p1"/>
            <p:cNvSpPr txBox="1"/>
            <p:nvPr/>
          </p:nvSpPr>
          <p:spPr>
            <a:xfrm>
              <a:off x="1762125" y="5143500"/>
              <a:ext cx="3333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鄭國威</a:t>
              </a:r>
              <a:endParaRPr b="1" sz="18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2D76D6"/>
                  </a:solidFill>
                  <a:latin typeface="Noto Sans"/>
                  <a:ea typeface="Noto Sans"/>
                  <a:cs typeface="Noto Sans"/>
                  <a:sym typeface="Noto Sans"/>
                </a:rPr>
                <a:t>泛科學共同創辦人</a:t>
              </a:r>
              <a:endParaRPr b="0" sz="1300">
                <a:solidFill>
                  <a:srgbClr val="2D76D6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30" name="Google Shape;30;p1"/>
          <p:cNvGrpSpPr/>
          <p:nvPr/>
        </p:nvGrpSpPr>
        <p:grpSpPr>
          <a:xfrm>
            <a:off x="8162925" y="762000"/>
            <a:ext cx="3486300" cy="4771913"/>
            <a:chOff x="8162925" y="762000"/>
            <a:chExt cx="3486300" cy="4771913"/>
          </a:xfrm>
        </p:grpSpPr>
        <p:grpSp>
          <p:nvGrpSpPr>
            <p:cNvPr id="31" name="Google Shape;31;p1"/>
            <p:cNvGrpSpPr/>
            <p:nvPr/>
          </p:nvGrpSpPr>
          <p:grpSpPr>
            <a:xfrm>
              <a:off x="8162925" y="3228975"/>
              <a:ext cx="3486300" cy="2304938"/>
              <a:chOff x="-28575" y="180975"/>
              <a:chExt cx="3486300" cy="2304938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0" y="190500"/>
                <a:ext cx="3429000" cy="2286000"/>
              </a:xfrm>
              <a:prstGeom prst="roundRect">
                <a:avLst>
                  <a:gd fmla="val 4166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AFC9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3" name="Google Shape;33;p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28575" y="180975"/>
                <a:ext cx="3486300" cy="1357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" name="Google Shape;34;p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28575" y="1128713"/>
                <a:ext cx="3486300" cy="13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" name="Google Shape;35;p1"/>
              <p:cNvSpPr/>
              <p:nvPr/>
            </p:nvSpPr>
            <p:spPr>
              <a:xfrm>
                <a:off x="1333500" y="952500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19BBD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1"/>
              <p:cNvSpPr txBox="1"/>
              <p:nvPr/>
            </p:nvSpPr>
            <p:spPr>
              <a:xfrm>
                <a:off x="1476375" y="1130427"/>
                <a:ext cx="476400" cy="47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19BBD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mark_email_unread</a:t>
                </a:r>
                <a:endParaRPr sz="2400">
                  <a:solidFill>
                    <a:srgbClr val="19BBD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37" name="Google Shape;37;p1"/>
            <p:cNvGrpSpPr/>
            <p:nvPr/>
          </p:nvGrpSpPr>
          <p:grpSpPr>
            <a:xfrm>
              <a:off x="8763000" y="762000"/>
              <a:ext cx="571500" cy="571500"/>
              <a:chOff x="0" y="0"/>
              <a:chExt cx="571500" cy="571500"/>
            </a:xfrm>
          </p:grpSpPr>
          <p:sp>
            <p:nvSpPr>
              <p:cNvPr id="38" name="Google Shape;38;p1"/>
              <p:cNvSpPr/>
              <p:nvPr/>
            </p:nvSpPr>
            <p:spPr>
              <a:xfrm>
                <a:off x="0" y="0"/>
                <a:ext cx="571500" cy="571500"/>
              </a:xfrm>
              <a:prstGeom prst="ellipse">
                <a:avLst/>
              </a:pr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1"/>
              <p:cNvSpPr txBox="1"/>
              <p:nvPr/>
            </p:nvSpPr>
            <p:spPr>
              <a:xfrm>
                <a:off x="95250" y="9525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⚛</a:t>
                </a:r>
                <a:endParaRPr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40" name="Google Shape;40;p1"/>
            <p:cNvGrpSpPr/>
            <p:nvPr/>
          </p:nvGrpSpPr>
          <p:grpSpPr>
            <a:xfrm>
              <a:off x="10477500" y="1428750"/>
              <a:ext cx="476400" cy="476400"/>
              <a:chOff x="0" y="0"/>
              <a:chExt cx="476400" cy="476400"/>
            </a:xfrm>
          </p:grpSpPr>
          <p:sp>
            <p:nvSpPr>
              <p:cNvPr id="41" name="Google Shape;41;p1"/>
              <p:cNvSpPr/>
              <p:nvPr/>
            </p:nvSpPr>
            <p:spPr>
              <a:xfrm>
                <a:off x="0" y="0"/>
                <a:ext cx="476400" cy="476400"/>
              </a:xfrm>
              <a:prstGeom prst="ellipse">
                <a:avLst/>
              </a:pr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1"/>
              <p:cNvSpPr txBox="1"/>
              <p:nvPr/>
            </p:nvSpPr>
            <p:spPr>
              <a:xfrm>
                <a:off x="47625" y="47625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⌕</a:t>
                </a:r>
                <a:endParaRPr sz="20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43" name="Google Shape;43;p1"/>
            <p:cNvGrpSpPr/>
            <p:nvPr/>
          </p:nvGrpSpPr>
          <p:grpSpPr>
            <a:xfrm>
              <a:off x="9715500" y="2286000"/>
              <a:ext cx="381000" cy="381000"/>
              <a:chOff x="0" y="0"/>
              <a:chExt cx="381000" cy="381000"/>
            </a:xfrm>
          </p:grpSpPr>
          <p:sp>
            <p:nvSpPr>
              <p:cNvPr id="44" name="Google Shape;44;p1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1"/>
              <p:cNvSpPr txBox="1"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✦</a:t>
                </a:r>
                <a:endParaRPr sz="16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/>
          <p:nvPr/>
        </p:nvSpPr>
        <p:spPr>
          <a:xfrm>
            <a:off x="11201400" y="0"/>
            <a:ext cx="987600" cy="5651100"/>
          </a:xfrm>
          <a:prstGeom prst="rect">
            <a:avLst/>
          </a:prstGeom>
          <a:solidFill>
            <a:srgbClr val="0B4FB3"/>
          </a:solidFill>
          <a:ln cap="flat" cmpd="sng" w="12700">
            <a:solidFill>
              <a:srgbClr val="0B4FB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11201400" y="0"/>
            <a:ext cx="987600" cy="5651100"/>
          </a:xfrm>
          <a:prstGeom prst="rect">
            <a:avLst/>
          </a:prstGeom>
          <a:solidFill>
            <a:srgbClr val="0B4F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10012680" y="4343400"/>
            <a:ext cx="2176200" cy="1307700"/>
          </a:xfrm>
          <a:prstGeom prst="rect">
            <a:avLst/>
          </a:prstGeom>
          <a:solidFill>
            <a:srgbClr val="2D76D6">
              <a:alpha val="74901"/>
            </a:srgbClr>
          </a:solidFill>
          <a:ln cap="flat" cmpd="sng" w="12700">
            <a:solidFill>
              <a:srgbClr val="2D7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10012680" y="4343400"/>
            <a:ext cx="2176200" cy="1307700"/>
          </a:xfrm>
          <a:prstGeom prst="rect">
            <a:avLst/>
          </a:prstGeom>
          <a:solidFill>
            <a:srgbClr val="2D76D6">
              <a:alpha val="7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137160" y="5715000"/>
            <a:ext cx="11914500" cy="9327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12700">
            <a:solidFill>
              <a:srgbClr val="E9EEF8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137160" y="5715000"/>
            <a:ext cx="11914500" cy="9327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12675">
            <a:solidFill>
              <a:srgbClr val="E9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822960" y="425812"/>
            <a:ext cx="10241400" cy="64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73B7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今天不是來聽</a:t>
            </a:r>
            <a:r>
              <a:rPr b="0" lang="en-US" sz="3600">
                <a:solidFill>
                  <a:srgbClr val="19BBD4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標準答案</a:t>
            </a:r>
            <a:endParaRPr b="0" sz="3600">
              <a:solidFill>
                <a:srgbClr val="073B7C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50392" y="1093324"/>
            <a:ext cx="87783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rPr>
              <a:t>而是帶走一套</a:t>
            </a:r>
            <a:r>
              <a:rPr b="1" lang="en-US" sz="1800">
                <a:solidFill>
                  <a:srgbClr val="2D76D6"/>
                </a:solidFill>
                <a:latin typeface="Noto Sans"/>
                <a:ea typeface="Noto Sans"/>
                <a:cs typeface="Noto Sans"/>
                <a:sym typeface="Noto Sans"/>
              </a:rPr>
              <a:t>判斷世界</a:t>
            </a:r>
            <a:r>
              <a:rPr b="1" lang="en-US" sz="18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rPr>
              <a:t>的方法。</a:t>
            </a:r>
            <a:endParaRPr b="1" sz="1800">
              <a:solidFill>
                <a:srgbClr val="073B7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59" name="Google Shape;59;p2"/>
          <p:cNvGrpSpPr/>
          <p:nvPr/>
        </p:nvGrpSpPr>
        <p:grpSpPr>
          <a:xfrm>
            <a:off x="685800" y="1714500"/>
            <a:ext cx="4953000" cy="1333500"/>
            <a:chOff x="685800" y="1714500"/>
            <a:chExt cx="4953000" cy="1333500"/>
          </a:xfrm>
        </p:grpSpPr>
        <p:sp>
          <p:nvSpPr>
            <p:cNvPr id="60" name="Google Shape;60;p2"/>
            <p:cNvSpPr/>
            <p:nvPr/>
          </p:nvSpPr>
          <p:spPr>
            <a:xfrm>
              <a:off x="685800" y="1714500"/>
              <a:ext cx="4953000" cy="1333500"/>
            </a:xfrm>
            <a:prstGeom prst="roundRect">
              <a:avLst>
                <a:gd fmla="val 10714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809625" y="2047875"/>
              <a:ext cx="666900" cy="666900"/>
            </a:xfrm>
            <a:prstGeom prst="ellipse">
              <a:avLst/>
            </a:prstGeom>
            <a:solidFill>
              <a:srgbClr val="0B4F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 txBox="1"/>
            <p:nvPr/>
          </p:nvSpPr>
          <p:spPr>
            <a:xfrm>
              <a:off x="809625" y="2047875"/>
              <a:ext cx="666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b="0" sz="28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63" name="Google Shape;63;p2"/>
            <p:cNvSpPr txBox="1"/>
            <p:nvPr/>
          </p:nvSpPr>
          <p:spPr>
            <a:xfrm>
              <a:off x="1666875" y="1857375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B4FB3"/>
                  </a:solidFill>
                  <a:latin typeface="Noto Sans"/>
                  <a:ea typeface="Noto Sans"/>
                  <a:cs typeface="Noto Sans"/>
                  <a:sym typeface="Noto Sans"/>
                </a:rPr>
                <a:t>為什麼科學素養重要</a:t>
              </a:r>
              <a:endParaRPr b="1" sz="2000">
                <a:solidFill>
                  <a:srgbClr val="0B4FB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在資訊、AI、公共議題中做判斷</a:t>
              </a:r>
              <a:endParaRPr b="0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64" name="Google Shape;64;p2"/>
          <p:cNvGrpSpPr/>
          <p:nvPr/>
        </p:nvGrpSpPr>
        <p:grpSpPr>
          <a:xfrm>
            <a:off x="5905500" y="1714500"/>
            <a:ext cx="4953000" cy="1333500"/>
            <a:chOff x="5905500" y="1714500"/>
            <a:chExt cx="4953000" cy="1333500"/>
          </a:xfrm>
        </p:grpSpPr>
        <p:sp>
          <p:nvSpPr>
            <p:cNvPr id="65" name="Google Shape;65;p2"/>
            <p:cNvSpPr/>
            <p:nvPr/>
          </p:nvSpPr>
          <p:spPr>
            <a:xfrm>
              <a:off x="5905500" y="1714500"/>
              <a:ext cx="4953000" cy="1333500"/>
            </a:xfrm>
            <a:prstGeom prst="roundRect">
              <a:avLst>
                <a:gd fmla="val 10714" name="adj"/>
              </a:avLst>
            </a:prstGeom>
            <a:solidFill>
              <a:srgbClr val="EAF3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029325" y="2047875"/>
              <a:ext cx="666900" cy="666900"/>
            </a:xfrm>
            <a:prstGeom prst="ellipse">
              <a:avLst/>
            </a:prstGeom>
            <a:solidFill>
              <a:srgbClr val="0B4F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 txBox="1"/>
            <p:nvPr/>
          </p:nvSpPr>
          <p:spPr>
            <a:xfrm>
              <a:off x="6029325" y="2047875"/>
              <a:ext cx="666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b="0" sz="28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68" name="Google Shape;68;p2"/>
            <p:cNvSpPr txBox="1"/>
            <p:nvPr/>
          </p:nvSpPr>
          <p:spPr>
            <a:xfrm>
              <a:off x="6886575" y="1857375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B4FB3"/>
                  </a:solidFill>
                  <a:latin typeface="Noto Sans"/>
                  <a:ea typeface="Noto Sans"/>
                  <a:cs typeface="Noto Sans"/>
                  <a:sym typeface="Noto Sans"/>
                </a:rPr>
                <a:t>我怎麼從逃避變成轉譯者</a:t>
              </a:r>
              <a:endParaRPr b="1" sz="2000">
                <a:solidFill>
                  <a:srgbClr val="0B4FB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不懂不是終點，而是入口</a:t>
              </a:r>
              <a:endParaRPr b="0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69" name="Google Shape;69;p2"/>
          <p:cNvGrpSpPr/>
          <p:nvPr/>
        </p:nvGrpSpPr>
        <p:grpSpPr>
          <a:xfrm>
            <a:off x="685800" y="3238500"/>
            <a:ext cx="4953000" cy="1333500"/>
            <a:chOff x="685800" y="3238500"/>
            <a:chExt cx="4953000" cy="1333500"/>
          </a:xfrm>
        </p:grpSpPr>
        <p:sp>
          <p:nvSpPr>
            <p:cNvPr id="70" name="Google Shape;70;p2"/>
            <p:cNvSpPr/>
            <p:nvPr/>
          </p:nvSpPr>
          <p:spPr>
            <a:xfrm>
              <a:off x="685800" y="3238500"/>
              <a:ext cx="4953000" cy="1333500"/>
            </a:xfrm>
            <a:prstGeom prst="roundRect">
              <a:avLst>
                <a:gd fmla="val 10714" name="adj"/>
              </a:avLst>
            </a:prstGeom>
            <a:solidFill>
              <a:srgbClr val="EAF3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809625" y="3571875"/>
              <a:ext cx="666900" cy="666900"/>
            </a:xfrm>
            <a:prstGeom prst="ellipse">
              <a:avLst/>
            </a:prstGeom>
            <a:solidFill>
              <a:srgbClr val="0B4F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 txBox="1"/>
            <p:nvPr/>
          </p:nvSpPr>
          <p:spPr>
            <a:xfrm>
              <a:off x="809625" y="3571875"/>
              <a:ext cx="666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3</a:t>
              </a:r>
              <a:endParaRPr b="0" sz="28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73" name="Google Shape;73;p2"/>
            <p:cNvSpPr txBox="1"/>
            <p:nvPr/>
          </p:nvSpPr>
          <p:spPr>
            <a:xfrm>
              <a:off x="1666875" y="3381375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B4FB3"/>
                  </a:solidFill>
                  <a:latin typeface="Noto Sans"/>
                  <a:ea typeface="Noto Sans"/>
                  <a:cs typeface="Noto Sans"/>
                  <a:sym typeface="Noto Sans"/>
                </a:rPr>
                <a:t>泛科學如何把知識變成系統</a:t>
              </a:r>
              <a:endParaRPr b="1" sz="2000">
                <a:solidFill>
                  <a:srgbClr val="0B4FB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翻譯、信任、使用、共創</a:t>
              </a:r>
              <a:endParaRPr b="0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74" name="Google Shape;74;p2"/>
          <p:cNvGrpSpPr/>
          <p:nvPr/>
        </p:nvGrpSpPr>
        <p:grpSpPr>
          <a:xfrm>
            <a:off x="5905500" y="3238500"/>
            <a:ext cx="4953000" cy="1333500"/>
            <a:chOff x="5905500" y="3238500"/>
            <a:chExt cx="4953000" cy="1333500"/>
          </a:xfrm>
        </p:grpSpPr>
        <p:sp>
          <p:nvSpPr>
            <p:cNvPr id="75" name="Google Shape;75;p2"/>
            <p:cNvSpPr/>
            <p:nvPr/>
          </p:nvSpPr>
          <p:spPr>
            <a:xfrm>
              <a:off x="5905500" y="3238500"/>
              <a:ext cx="4953000" cy="1333500"/>
            </a:xfrm>
            <a:prstGeom prst="roundRect">
              <a:avLst>
                <a:gd fmla="val 10714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029325" y="3571875"/>
              <a:ext cx="666900" cy="666900"/>
            </a:xfrm>
            <a:prstGeom prst="ellipse">
              <a:avLst/>
            </a:prstGeom>
            <a:solidFill>
              <a:srgbClr val="0B4F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 txBox="1"/>
            <p:nvPr/>
          </p:nvSpPr>
          <p:spPr>
            <a:xfrm>
              <a:off x="6029325" y="3571875"/>
              <a:ext cx="666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4</a:t>
              </a:r>
              <a:endParaRPr b="0" sz="28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78" name="Google Shape;78;p2"/>
            <p:cNvSpPr txBox="1"/>
            <p:nvPr/>
          </p:nvSpPr>
          <p:spPr>
            <a:xfrm>
              <a:off x="6886575" y="3381375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B4FB3"/>
                  </a:solidFill>
                  <a:latin typeface="Noto Sans"/>
                  <a:ea typeface="Noto Sans"/>
                  <a:cs typeface="Noto Sans"/>
                  <a:sym typeface="Noto Sans"/>
                </a:rPr>
                <a:t>觀眾可以帶走的工具</a:t>
              </a:r>
              <a:endParaRPr b="1" sz="2000">
                <a:solidFill>
                  <a:srgbClr val="0B4FB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暫停、觀察、找證據、再相信</a:t>
              </a:r>
              <a:endParaRPr b="0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79" name="Google Shape;79;p2"/>
          <p:cNvSpPr/>
          <p:nvPr/>
        </p:nvSpPr>
        <p:spPr>
          <a:xfrm>
            <a:off x="658368" y="4953000"/>
            <a:ext cx="10881300" cy="4764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822960" y="5048250"/>
            <a:ext cx="105612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把「知道很多」改成「</a:t>
            </a:r>
            <a:r>
              <a:rPr b="1" lang="en-US" sz="1600">
                <a:solidFill>
                  <a:srgbClr val="19BBD4"/>
                </a:solidFill>
                <a:latin typeface="Noto Sans"/>
                <a:ea typeface="Noto Sans"/>
                <a:cs typeface="Noto Sans"/>
                <a:sym typeface="Noto Sans"/>
              </a:rPr>
              <a:t>知道如何判斷</a:t>
            </a:r>
            <a:r>
              <a:rPr b="1"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」。</a:t>
            </a:r>
            <a:endParaRPr b="1" sz="16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3"/>
          <p:cNvGrpSpPr/>
          <p:nvPr/>
        </p:nvGrpSpPr>
        <p:grpSpPr>
          <a:xfrm>
            <a:off x="-952500" y="-1428750"/>
            <a:ext cx="14763750" cy="9525000"/>
            <a:chOff x="-952500" y="-1428750"/>
            <a:chExt cx="14763750" cy="9525000"/>
          </a:xfrm>
        </p:grpSpPr>
        <p:sp>
          <p:nvSpPr>
            <p:cNvPr id="87" name="Google Shape;87;p3"/>
            <p:cNvSpPr/>
            <p:nvPr/>
          </p:nvSpPr>
          <p:spPr>
            <a:xfrm>
              <a:off x="8096250" y="-1428750"/>
              <a:ext cx="5715000" cy="5715000"/>
            </a:xfrm>
            <a:prstGeom prst="ellipse">
              <a:avLst/>
            </a:prstGeom>
            <a:solidFill>
              <a:srgbClr val="0B4FB3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-952500" y="4286250"/>
              <a:ext cx="3810000" cy="3810000"/>
            </a:xfrm>
            <a:prstGeom prst="ellipse">
              <a:avLst/>
            </a:prstGeom>
            <a:solidFill>
              <a:srgbClr val="2D76D6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0" y="5143500"/>
              <a:ext cx="12192000" cy="1714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3"/>
          <p:cNvSpPr/>
          <p:nvPr/>
        </p:nvSpPr>
        <p:spPr>
          <a:xfrm>
            <a:off x="571500" y="476250"/>
            <a:ext cx="10241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073B7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科學素養，</a:t>
            </a:r>
            <a:r>
              <a:rPr b="0" lang="en-US" sz="4200">
                <a:solidFill>
                  <a:srgbClr val="2D76D6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不是</a:t>
            </a:r>
            <a:r>
              <a:rPr b="0" lang="en-US" sz="4200">
                <a:solidFill>
                  <a:srgbClr val="073B7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知識量比賽</a:t>
            </a:r>
            <a:endParaRPr b="0" sz="4200">
              <a:solidFill>
                <a:srgbClr val="073B7C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90550" y="1238250"/>
            <a:ext cx="8778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46E7A"/>
                </a:solidFill>
                <a:latin typeface="Noto Sans"/>
                <a:ea typeface="Noto Sans"/>
                <a:cs typeface="Noto Sans"/>
                <a:sym typeface="Noto Sans"/>
              </a:rPr>
              <a:t>更像一套「面對不確定」的操作系統。</a:t>
            </a:r>
            <a:endParaRPr b="1" sz="1800">
              <a:solidFill>
                <a:srgbClr val="546E7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92" name="Google Shape;92;p3"/>
          <p:cNvGrpSpPr/>
          <p:nvPr/>
        </p:nvGrpSpPr>
        <p:grpSpPr>
          <a:xfrm>
            <a:off x="571500" y="1905000"/>
            <a:ext cx="2667000" cy="2857500"/>
            <a:chOff x="571500" y="1905000"/>
            <a:chExt cx="2667000" cy="2857500"/>
          </a:xfrm>
        </p:grpSpPr>
        <p:sp>
          <p:nvSpPr>
            <p:cNvPr id="93" name="Google Shape;93;p3"/>
            <p:cNvSpPr/>
            <p:nvPr/>
          </p:nvSpPr>
          <p:spPr>
            <a:xfrm>
              <a:off x="571500" y="1905000"/>
              <a:ext cx="2667000" cy="2857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476375" y="2143125"/>
              <a:ext cx="857400" cy="8574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 txBox="1"/>
            <p:nvPr/>
          </p:nvSpPr>
          <p:spPr>
            <a:xfrm>
              <a:off x="1524000" y="219075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知</a:t>
              </a:r>
              <a:endParaRPr b="0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96" name="Google Shape;96;p3"/>
            <p:cNvSpPr txBox="1"/>
            <p:nvPr/>
          </p:nvSpPr>
          <p:spPr>
            <a:xfrm>
              <a:off x="714375" y="3095625"/>
              <a:ext cx="2381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知道事實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55A64"/>
                  </a:solidFill>
                  <a:latin typeface="Noto Sans"/>
                  <a:ea typeface="Noto Sans"/>
                  <a:cs typeface="Noto Sans"/>
                  <a:sym typeface="Noto Sans"/>
                </a:rPr>
                <a:t>水會沸騰、病毒會變異、能源有成本</a:t>
              </a:r>
              <a:endParaRPr b="0" sz="1300">
                <a:solidFill>
                  <a:srgbClr val="455A64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97" name="Google Shape;97;p3"/>
          <p:cNvGrpSpPr/>
          <p:nvPr/>
        </p:nvGrpSpPr>
        <p:grpSpPr>
          <a:xfrm>
            <a:off x="3429000" y="1905000"/>
            <a:ext cx="2667000" cy="2857500"/>
            <a:chOff x="3429000" y="1905000"/>
            <a:chExt cx="2667000" cy="2857500"/>
          </a:xfrm>
        </p:grpSpPr>
        <p:sp>
          <p:nvSpPr>
            <p:cNvPr id="98" name="Google Shape;98;p3"/>
            <p:cNvSpPr/>
            <p:nvPr/>
          </p:nvSpPr>
          <p:spPr>
            <a:xfrm>
              <a:off x="3429000" y="1905000"/>
              <a:ext cx="2667000" cy="2857500"/>
            </a:xfrm>
            <a:prstGeom prst="roundRect">
              <a:avLst>
                <a:gd fmla="val 7142" name="adj"/>
              </a:avLst>
            </a:prstGeom>
            <a:solidFill>
              <a:srgbClr val="EAF3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4333875" y="2143125"/>
              <a:ext cx="857400" cy="857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 txBox="1"/>
            <p:nvPr/>
          </p:nvSpPr>
          <p:spPr>
            <a:xfrm>
              <a:off x="4381500" y="219075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方</a:t>
              </a:r>
              <a:endParaRPr b="0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01" name="Google Shape;101;p3"/>
            <p:cNvSpPr txBox="1"/>
            <p:nvPr/>
          </p:nvSpPr>
          <p:spPr>
            <a:xfrm>
              <a:off x="3571875" y="3095625"/>
              <a:ext cx="2381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理解方法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55A64"/>
                  </a:solidFill>
                  <a:latin typeface="Noto Sans"/>
                  <a:ea typeface="Noto Sans"/>
                  <a:cs typeface="Noto Sans"/>
                  <a:sym typeface="Noto Sans"/>
                </a:rPr>
                <a:t>控制變因、看樣本、問誤差</a:t>
              </a:r>
              <a:endParaRPr b="0" sz="1300">
                <a:solidFill>
                  <a:srgbClr val="455A64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02" name="Google Shape;102;p3"/>
          <p:cNvGrpSpPr/>
          <p:nvPr/>
        </p:nvGrpSpPr>
        <p:grpSpPr>
          <a:xfrm>
            <a:off x="6286500" y="1905000"/>
            <a:ext cx="2667000" cy="2857500"/>
            <a:chOff x="6286500" y="1905000"/>
            <a:chExt cx="2667000" cy="2857500"/>
          </a:xfrm>
        </p:grpSpPr>
        <p:sp>
          <p:nvSpPr>
            <p:cNvPr id="103" name="Google Shape;103;p3"/>
            <p:cNvSpPr/>
            <p:nvPr/>
          </p:nvSpPr>
          <p:spPr>
            <a:xfrm>
              <a:off x="6286500" y="1905000"/>
              <a:ext cx="2667000" cy="2857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7191375" y="2143125"/>
              <a:ext cx="857400" cy="8574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 txBox="1"/>
            <p:nvPr/>
          </p:nvSpPr>
          <p:spPr>
            <a:xfrm>
              <a:off x="7239000" y="219075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判</a:t>
              </a:r>
              <a:endParaRPr b="0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06" name="Google Shape;106;p3"/>
            <p:cNvSpPr txBox="1"/>
            <p:nvPr/>
          </p:nvSpPr>
          <p:spPr>
            <a:xfrm>
              <a:off x="6429375" y="3095625"/>
              <a:ext cx="2381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評估證據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55A64"/>
                  </a:solidFill>
                  <a:latin typeface="Noto Sans"/>
                  <a:ea typeface="Noto Sans"/>
                  <a:cs typeface="Noto Sans"/>
                  <a:sym typeface="Noto Sans"/>
                </a:rPr>
                <a:t>來源可靠嗎？推論跳太快嗎？</a:t>
              </a:r>
              <a:endParaRPr b="0" sz="1300">
                <a:solidFill>
                  <a:srgbClr val="455A64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07" name="Google Shape;107;p3"/>
          <p:cNvGrpSpPr/>
          <p:nvPr/>
        </p:nvGrpSpPr>
        <p:grpSpPr>
          <a:xfrm>
            <a:off x="9144000" y="1905000"/>
            <a:ext cx="2667000" cy="2857500"/>
            <a:chOff x="9144000" y="1905000"/>
            <a:chExt cx="2667000" cy="2857500"/>
          </a:xfrm>
        </p:grpSpPr>
        <p:sp>
          <p:nvSpPr>
            <p:cNvPr id="108" name="Google Shape;108;p3"/>
            <p:cNvSpPr/>
            <p:nvPr/>
          </p:nvSpPr>
          <p:spPr>
            <a:xfrm>
              <a:off x="9144000" y="1905000"/>
              <a:ext cx="2667000" cy="2857500"/>
            </a:xfrm>
            <a:prstGeom prst="roundRect">
              <a:avLst>
                <a:gd fmla="val 7142" name="adj"/>
              </a:avLst>
            </a:prstGeom>
            <a:solidFill>
              <a:srgbClr val="EAF3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0048875" y="2143125"/>
              <a:ext cx="857400" cy="857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10096500" y="219075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行</a:t>
              </a:r>
              <a:endParaRPr b="0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11" name="Google Shape;111;p3"/>
            <p:cNvSpPr txBox="1"/>
            <p:nvPr/>
          </p:nvSpPr>
          <p:spPr>
            <a:xfrm>
              <a:off x="9286875" y="3095625"/>
              <a:ext cx="2381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參與公共決策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55A64"/>
                  </a:solidFill>
                  <a:latin typeface="Noto Sans"/>
                  <a:ea typeface="Noto Sans"/>
                  <a:cs typeface="Noto Sans"/>
                  <a:sym typeface="Noto Sans"/>
                </a:rPr>
                <a:t>把證據放進社會情境中討論</a:t>
              </a:r>
              <a:endParaRPr b="0" sz="1300">
                <a:solidFill>
                  <a:srgbClr val="455A64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112" name="Google Shape;112;p3"/>
          <p:cNvSpPr/>
          <p:nvPr/>
        </p:nvSpPr>
        <p:spPr>
          <a:xfrm>
            <a:off x="571500" y="5143500"/>
            <a:ext cx="1104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highlight>
                  <a:srgbClr val="073B7C"/>
                </a:highlight>
                <a:latin typeface="Noto Sans"/>
                <a:ea typeface="Noto Sans"/>
                <a:cs typeface="Noto Sans"/>
                <a:sym typeface="Noto Sans"/>
              </a:rPr>
              <a:t>別假裝</a:t>
            </a:r>
            <a:r>
              <a:rPr b="1" lang="en-US" sz="2000">
                <a:solidFill>
                  <a:srgbClr val="FFFFFF"/>
                </a:solidFill>
                <a:highlight>
                  <a:srgbClr val="073B7C"/>
                </a:highlight>
                <a:latin typeface="Noto Sans"/>
                <a:ea typeface="Noto Sans"/>
                <a:cs typeface="Noto Sans"/>
                <a:sym typeface="Noto Sans"/>
              </a:rPr>
              <a:t>「我很懂」，而</a:t>
            </a:r>
            <a:r>
              <a:rPr b="1" lang="en-US" sz="2000">
                <a:solidFill>
                  <a:srgbClr val="FFFFFF"/>
                </a:solidFill>
                <a:highlight>
                  <a:srgbClr val="073B7C"/>
                </a:highlight>
                <a:latin typeface="Noto Sans"/>
                <a:ea typeface="Noto Sans"/>
                <a:cs typeface="Noto Sans"/>
                <a:sym typeface="Noto Sans"/>
              </a:rPr>
              <a:t>要追求</a:t>
            </a:r>
            <a:r>
              <a:rPr b="1" lang="en-US" sz="2000">
                <a:solidFill>
                  <a:srgbClr val="FFFFFF"/>
                </a:solidFill>
                <a:highlight>
                  <a:srgbClr val="073B7C"/>
                </a:highlight>
                <a:latin typeface="Noto Sans"/>
                <a:ea typeface="Noto Sans"/>
                <a:cs typeface="Noto Sans"/>
                <a:sym typeface="Noto Sans"/>
              </a:rPr>
              <a:t>「</a:t>
            </a:r>
            <a:r>
              <a:rPr b="1" lang="en-US" sz="2000">
                <a:solidFill>
                  <a:srgbClr val="19BBD4"/>
                </a:solidFill>
                <a:highlight>
                  <a:srgbClr val="073B7C"/>
                </a:highlight>
                <a:latin typeface="Noto Sans"/>
                <a:ea typeface="Noto Sans"/>
                <a:cs typeface="Noto Sans"/>
                <a:sym typeface="Noto Sans"/>
              </a:rPr>
              <a:t>我知道怎麼查、怎麼問、怎麼修正</a:t>
            </a:r>
            <a:r>
              <a:rPr b="1" lang="en-US" sz="2000">
                <a:solidFill>
                  <a:srgbClr val="FFFFFF"/>
                </a:solidFill>
                <a:highlight>
                  <a:srgbClr val="073B7C"/>
                </a:highlight>
                <a:latin typeface="Noto Sans"/>
                <a:ea typeface="Noto Sans"/>
                <a:cs typeface="Noto Sans"/>
                <a:sym typeface="Noto Sans"/>
              </a:rPr>
              <a:t>」。</a:t>
            </a:r>
            <a:endParaRPr b="1" sz="2000">
              <a:solidFill>
                <a:srgbClr val="FFFFFF"/>
              </a:solidFill>
              <a:highlight>
                <a:srgbClr val="073B7C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8572500" y="-1428750"/>
            <a:ext cx="4762500" cy="4762500"/>
          </a:xfrm>
          <a:prstGeom prst="ellipse">
            <a:avLst/>
          </a:prstGeom>
          <a:solidFill>
            <a:srgbClr val="2D76D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-762000" y="4476750"/>
            <a:ext cx="3429000" cy="3429000"/>
          </a:xfrm>
          <a:prstGeom prst="ellipse">
            <a:avLst/>
          </a:prstGeom>
          <a:solidFill>
            <a:srgbClr val="0B4FB3">
              <a:alpha val="3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571500" y="476250"/>
            <a:ext cx="102414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073B7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我們每天都在</a:t>
            </a:r>
            <a:r>
              <a:rPr b="0" lang="en-US" sz="4200">
                <a:solidFill>
                  <a:srgbClr val="2D76D6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判斷世界</a:t>
            </a:r>
            <a:endParaRPr b="0" sz="4200">
              <a:solidFill>
                <a:srgbClr val="073B7C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90550" y="1190625"/>
            <a:ext cx="8778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46E7A"/>
                </a:solidFill>
                <a:latin typeface="Noto Sans"/>
                <a:ea typeface="Noto Sans"/>
                <a:cs typeface="Noto Sans"/>
                <a:sym typeface="Noto Sans"/>
              </a:rPr>
              <a:t>健康、政策、AI、消費，都不是考卷，卻都需要判斷。</a:t>
            </a:r>
            <a:endParaRPr b="1" sz="1800">
              <a:solidFill>
                <a:srgbClr val="546E7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71500" y="1619250"/>
            <a:ext cx="7620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B4FB3"/>
                </a:solidFill>
                <a:latin typeface="Noto Sans"/>
                <a:ea typeface="Noto Sans"/>
                <a:cs typeface="Noto Sans"/>
                <a:sym typeface="Noto Sans"/>
              </a:rPr>
              <a:t>資訊愈多，判斷愈珍貴。</a:t>
            </a:r>
            <a:endParaRPr b="1" sz="2400">
              <a:solidFill>
                <a:srgbClr val="0B4FB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23" name="Google Shape;123;p4"/>
          <p:cNvGrpSpPr/>
          <p:nvPr/>
        </p:nvGrpSpPr>
        <p:grpSpPr>
          <a:xfrm>
            <a:off x="571500" y="2286000"/>
            <a:ext cx="11239500" cy="2286000"/>
            <a:chOff x="571500" y="2286000"/>
            <a:chExt cx="11239500" cy="2286000"/>
          </a:xfrm>
        </p:grpSpPr>
        <p:sp>
          <p:nvSpPr>
            <p:cNvPr id="124" name="Google Shape;124;p4"/>
            <p:cNvSpPr/>
            <p:nvPr/>
          </p:nvSpPr>
          <p:spPr>
            <a:xfrm>
              <a:off x="571500" y="2286000"/>
              <a:ext cx="2667000" cy="2286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1476375" y="2428875"/>
              <a:ext cx="857400" cy="8574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1524000" y="2529078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favorite</a:t>
              </a:r>
              <a:endParaRPr sz="36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714375" y="3429000"/>
              <a:ext cx="2381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健康資訊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429000" y="2286000"/>
              <a:ext cx="2667000" cy="2286000"/>
            </a:xfrm>
            <a:prstGeom prst="roundRect">
              <a:avLst>
                <a:gd fmla="val 8333" name="adj"/>
              </a:avLst>
            </a:prstGeom>
            <a:solidFill>
              <a:srgbClr val="EAF3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4333875" y="2428875"/>
              <a:ext cx="857400" cy="857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4"/>
            <p:cNvSpPr txBox="1"/>
            <p:nvPr/>
          </p:nvSpPr>
          <p:spPr>
            <a:xfrm>
              <a:off x="4381500" y="2529078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public</a:t>
              </a:r>
              <a:endParaRPr sz="36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571875" y="3429000"/>
              <a:ext cx="2381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公共議題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6286500" y="2286000"/>
              <a:ext cx="2667000" cy="2286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7191375" y="2428875"/>
              <a:ext cx="857400" cy="8574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 txBox="1"/>
            <p:nvPr/>
          </p:nvSpPr>
          <p:spPr>
            <a:xfrm>
              <a:off x="7239000" y="247650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AI</a:t>
              </a:r>
              <a:endParaRPr b="0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6429375" y="3429000"/>
              <a:ext cx="2381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AI 內容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9144000" y="2286000"/>
              <a:ext cx="2667000" cy="2286000"/>
            </a:xfrm>
            <a:prstGeom prst="roundRect">
              <a:avLst>
                <a:gd fmla="val 8333" name="adj"/>
              </a:avLst>
            </a:prstGeom>
            <a:solidFill>
              <a:srgbClr val="EAF3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10048875" y="2428875"/>
              <a:ext cx="857400" cy="857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 txBox="1"/>
            <p:nvPr/>
          </p:nvSpPr>
          <p:spPr>
            <a:xfrm>
              <a:off x="10096500" y="2529078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swap_vert</a:t>
              </a:r>
              <a:endParaRPr sz="36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9286875" y="3429000"/>
              <a:ext cx="2381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生活選擇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</p:grpSp>
      <p:sp>
        <p:nvSpPr>
          <p:cNvPr id="140" name="Google Shape;140;p4"/>
          <p:cNvSpPr/>
          <p:nvPr/>
        </p:nvSpPr>
        <p:spPr>
          <a:xfrm>
            <a:off x="655320" y="4953000"/>
            <a:ext cx="10881300" cy="5715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815340" y="5095875"/>
            <a:ext cx="105612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科學素養，就是</a:t>
            </a:r>
            <a:r>
              <a:rPr b="1" lang="en-US" sz="1800">
                <a:solidFill>
                  <a:srgbClr val="19BBD4"/>
                </a:solidFill>
                <a:latin typeface="Noto Sans"/>
                <a:ea typeface="Noto Sans"/>
                <a:cs typeface="Noto Sans"/>
                <a:sym typeface="Noto Sans"/>
              </a:rPr>
              <a:t>日常生活的判斷力</a:t>
            </a: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b="1" sz="18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9048750" y="-1619250"/>
            <a:ext cx="4762500" cy="4762500"/>
          </a:xfrm>
          <a:prstGeom prst="ellipse">
            <a:avLst/>
          </a:prstGeom>
          <a:solidFill>
            <a:srgbClr val="2D76D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-952500" y="4381500"/>
            <a:ext cx="3429000" cy="3429000"/>
          </a:xfrm>
          <a:prstGeom prst="ellipse">
            <a:avLst/>
          </a:prstGeom>
          <a:solidFill>
            <a:srgbClr val="0B4FB3">
              <a:alpha val="3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594360" y="438912"/>
            <a:ext cx="10241400" cy="64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73B7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我本來是最沒有資格站在這的人</a:t>
            </a:r>
            <a:endParaRPr b="0" sz="4200">
              <a:solidFill>
                <a:srgbClr val="073B7C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21792" y="1106424"/>
            <a:ext cx="87783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46E7A"/>
                </a:solidFill>
                <a:latin typeface="Noto Sans"/>
                <a:ea typeface="Noto Sans"/>
                <a:cs typeface="Noto Sans"/>
                <a:sym typeface="Noto Sans"/>
              </a:rPr>
              <a:t>從固定心態到成長心態</a:t>
            </a:r>
            <a:endParaRPr b="1" sz="1800">
              <a:solidFill>
                <a:srgbClr val="546E7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51" name="Google Shape;151;p5"/>
          <p:cNvGrpSpPr/>
          <p:nvPr/>
        </p:nvGrpSpPr>
        <p:grpSpPr>
          <a:xfrm>
            <a:off x="1333500" y="1905000"/>
            <a:ext cx="4286400" cy="2667000"/>
            <a:chOff x="1333500" y="1905000"/>
            <a:chExt cx="4286400" cy="2667000"/>
          </a:xfrm>
        </p:grpSpPr>
        <p:sp>
          <p:nvSpPr>
            <p:cNvPr id="152" name="Google Shape;152;p5"/>
            <p:cNvSpPr/>
            <p:nvPr/>
          </p:nvSpPr>
          <p:spPr>
            <a:xfrm>
              <a:off x="1333500" y="1905000"/>
              <a:ext cx="4286400" cy="2667000"/>
            </a:xfrm>
            <a:prstGeom prst="roundRect">
              <a:avLst>
                <a:gd fmla="val 7142" name="adj"/>
              </a:avLst>
            </a:prstGeom>
            <a:solidFill>
              <a:srgbClr val="EAF3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 txBox="1"/>
            <p:nvPr/>
          </p:nvSpPr>
          <p:spPr>
            <a:xfrm>
              <a:off x="1619250" y="20955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D76D6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FACTORY SETTINGS</a:t>
              </a:r>
              <a:endParaRPr b="0" sz="1200">
                <a:solidFill>
                  <a:srgbClr val="2D76D6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100% 文科生</a:t>
              </a:r>
              <a:endParaRPr b="0" sz="24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55A64"/>
                  </a:solidFill>
                  <a:latin typeface="Noto Sans"/>
                  <a:ea typeface="Noto Sans"/>
                  <a:cs typeface="Noto Sans"/>
                  <a:sym typeface="Noto Sans"/>
                </a:rPr>
                <a:t>• 國中數理全面崩盤</a:t>
              </a:r>
              <a:endParaRPr b="1" sz="1300">
                <a:solidFill>
                  <a:srgbClr val="455A64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55A64"/>
                  </a:solidFill>
                  <a:latin typeface="Noto Sans"/>
                  <a:ea typeface="Noto Sans"/>
                  <a:cs typeface="Noto Sans"/>
                  <a:sym typeface="Noto Sans"/>
                </a:rPr>
                <a:t>• 逃避、作弊，甚至放棄</a:t>
              </a:r>
              <a:endParaRPr b="1" sz="1300">
                <a:solidFill>
                  <a:srgbClr val="455A64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55A64"/>
                  </a:solidFill>
                  <a:latin typeface="Noto Sans"/>
                  <a:ea typeface="Noto Sans"/>
                  <a:cs typeface="Noto Sans"/>
                  <a:sym typeface="Noto Sans"/>
                </a:rPr>
                <a:t>• 理解：不懂不是終點，而是入口</a:t>
              </a:r>
              <a:endParaRPr b="1" sz="1300">
                <a:solidFill>
                  <a:srgbClr val="455A64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54" name="Google Shape;154;p5"/>
          <p:cNvGrpSpPr/>
          <p:nvPr/>
        </p:nvGrpSpPr>
        <p:grpSpPr>
          <a:xfrm>
            <a:off x="6191250" y="1905000"/>
            <a:ext cx="4286400" cy="2667000"/>
            <a:chOff x="6191250" y="1905000"/>
            <a:chExt cx="4286400" cy="2667000"/>
          </a:xfrm>
        </p:grpSpPr>
        <p:sp>
          <p:nvSpPr>
            <p:cNvPr id="155" name="Google Shape;155;p5"/>
            <p:cNvSpPr/>
            <p:nvPr/>
          </p:nvSpPr>
          <p:spPr>
            <a:xfrm>
              <a:off x="6191250" y="1905000"/>
              <a:ext cx="4286400" cy="26670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5"/>
            <p:cNvSpPr txBox="1"/>
            <p:nvPr/>
          </p:nvSpPr>
          <p:spPr>
            <a:xfrm>
              <a:off x="6477000" y="20955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D76D6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CURRENT SPECS</a:t>
              </a:r>
              <a:endParaRPr b="0" sz="1200">
                <a:solidFill>
                  <a:srgbClr val="2D76D6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泛科學共同創辦人</a:t>
              </a:r>
              <a:endParaRPr b="0" sz="24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55A64"/>
                  </a:solidFill>
                  <a:latin typeface="Noto Sans"/>
                  <a:ea typeface="Noto Sans"/>
                  <a:cs typeface="Noto Sans"/>
                  <a:sym typeface="Noto Sans"/>
                </a:rPr>
                <a:t>• 全台最大科學社群</a:t>
              </a:r>
              <a:endParaRPr b="1" sz="1300">
                <a:solidFill>
                  <a:srgbClr val="455A64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55A64"/>
                  </a:solidFill>
                  <a:latin typeface="Noto Sans"/>
                  <a:ea typeface="Noto Sans"/>
                  <a:cs typeface="Noto Sans"/>
                  <a:sym typeface="Noto Sans"/>
                </a:rPr>
                <a:t>• YouTube 117 萬訂閱</a:t>
              </a:r>
              <a:endParaRPr b="1" sz="1300">
                <a:solidFill>
                  <a:srgbClr val="455A64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55A64"/>
                  </a:solidFill>
                  <a:latin typeface="Noto Sans"/>
                  <a:ea typeface="Noto Sans"/>
                  <a:cs typeface="Noto Sans"/>
                  <a:sym typeface="Noto Sans"/>
                </a:rPr>
                <a:t>• FB 62萬 | IG 30萬 | Threads 12萬</a:t>
              </a:r>
              <a:endParaRPr b="1" sz="1300">
                <a:solidFill>
                  <a:srgbClr val="455A64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157" name="Google Shape;157;p5"/>
          <p:cNvSpPr/>
          <p:nvPr/>
        </p:nvSpPr>
        <p:spPr>
          <a:xfrm>
            <a:off x="658368" y="4953000"/>
            <a:ext cx="10881300" cy="5715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822960" y="5095875"/>
            <a:ext cx="105612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我曾是個</a:t>
            </a:r>
            <a:r>
              <a:rPr b="1" lang="en-US" sz="1800">
                <a:solidFill>
                  <a:srgbClr val="19BBD4"/>
                </a:solidFill>
                <a:latin typeface="Noto Sans"/>
                <a:ea typeface="Noto Sans"/>
                <a:cs typeface="Noto Sans"/>
                <a:sym typeface="Noto Sans"/>
              </a:rPr>
              <a:t>為了逃避數理而選擇文組</a:t>
            </a: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的孩子。</a:t>
            </a:r>
            <a:endParaRPr b="1" sz="18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/>
          <p:nvPr/>
        </p:nvSpPr>
        <p:spPr>
          <a:xfrm>
            <a:off x="762000" y="571500"/>
            <a:ext cx="10241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00">
                <a:solidFill>
                  <a:srgbClr val="073B7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我的起點</a:t>
            </a:r>
            <a:endParaRPr b="0" sz="4800">
              <a:solidFill>
                <a:srgbClr val="073B7C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9525000" y="-1143000"/>
            <a:ext cx="3810000" cy="3810000"/>
          </a:xfrm>
          <a:prstGeom prst="ellipse">
            <a:avLst/>
          </a:prstGeom>
          <a:solidFill>
            <a:srgbClr val="2D76D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-666750" y="4667250"/>
            <a:ext cx="2857500" cy="2857500"/>
          </a:xfrm>
          <a:prstGeom prst="ellipse">
            <a:avLst/>
          </a:prstGeom>
          <a:solidFill>
            <a:srgbClr val="0B4FB3">
              <a:alpha val="3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809625" y="1333500"/>
            <a:ext cx="8778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46E7A"/>
                </a:solidFill>
                <a:latin typeface="Noto Sans"/>
                <a:ea typeface="Noto Sans"/>
                <a:cs typeface="Noto Sans"/>
                <a:sym typeface="Noto Sans"/>
              </a:rPr>
              <a:t>並不像一個「會做科學的人」。</a:t>
            </a:r>
            <a:endParaRPr b="1" sz="2000">
              <a:solidFill>
                <a:srgbClr val="546E7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68" name="Google Shape;168;p6"/>
          <p:cNvGrpSpPr/>
          <p:nvPr/>
        </p:nvGrpSpPr>
        <p:grpSpPr>
          <a:xfrm>
            <a:off x="762000" y="2095500"/>
            <a:ext cx="3429000" cy="2667000"/>
            <a:chOff x="762000" y="2095500"/>
            <a:chExt cx="3429000" cy="2667000"/>
          </a:xfrm>
        </p:grpSpPr>
        <p:sp>
          <p:nvSpPr>
            <p:cNvPr id="169" name="Google Shape;169;p6"/>
            <p:cNvSpPr/>
            <p:nvPr/>
          </p:nvSpPr>
          <p:spPr>
            <a:xfrm>
              <a:off x="762000" y="2095500"/>
              <a:ext cx="3429000" cy="26670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2000250" y="2381250"/>
              <a:ext cx="952500" cy="9525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6"/>
            <p:cNvSpPr txBox="1"/>
            <p:nvPr/>
          </p:nvSpPr>
          <p:spPr>
            <a:xfrm>
              <a:off x="2000250" y="2381250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40</a:t>
              </a:r>
              <a:endParaRPr b="0" sz="3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72" name="Google Shape;172;p6"/>
            <p:cNvSpPr txBox="1"/>
            <p:nvPr/>
          </p:nvSpPr>
          <p:spPr>
            <a:xfrm>
              <a:off x="952500" y="36195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73B7C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數學受挫</a:t>
              </a:r>
              <a:endParaRPr b="0" sz="2400">
                <a:solidFill>
                  <a:srgbClr val="073B7C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546E7A"/>
                  </a:solidFill>
                  <a:latin typeface="Noto Sans"/>
                  <a:ea typeface="Noto Sans"/>
                  <a:cs typeface="Noto Sans"/>
                  <a:sym typeface="Noto Sans"/>
                </a:rPr>
                <a:t>基礎科目的打擊</a:t>
              </a:r>
              <a:endParaRPr b="1" sz="1400">
                <a:solidFill>
                  <a:srgbClr val="546E7A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790575" y="2124075"/>
              <a:ext cx="419100" cy="419100"/>
            </a:xfrm>
            <a:prstGeom prst="ellipse">
              <a:avLst/>
            </a:prstGeom>
            <a:solidFill>
              <a:srgbClr val="0B4F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6"/>
            <p:cNvSpPr txBox="1"/>
            <p:nvPr/>
          </p:nvSpPr>
          <p:spPr>
            <a:xfrm>
              <a:off x="790575" y="212407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b="0" sz="14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</p:grpSp>
      <p:grpSp>
        <p:nvGrpSpPr>
          <p:cNvPr id="175" name="Google Shape;175;p6"/>
          <p:cNvGrpSpPr/>
          <p:nvPr/>
        </p:nvGrpSpPr>
        <p:grpSpPr>
          <a:xfrm>
            <a:off x="4381500" y="2095500"/>
            <a:ext cx="3429000" cy="2667000"/>
            <a:chOff x="4381500" y="2095500"/>
            <a:chExt cx="3429000" cy="2667000"/>
          </a:xfrm>
        </p:grpSpPr>
        <p:sp>
          <p:nvSpPr>
            <p:cNvPr id="176" name="Google Shape;176;p6"/>
            <p:cNvSpPr/>
            <p:nvPr/>
          </p:nvSpPr>
          <p:spPr>
            <a:xfrm>
              <a:off x="4381500" y="2095500"/>
              <a:ext cx="3429000" cy="2667000"/>
            </a:xfrm>
            <a:prstGeom prst="roundRect">
              <a:avLst>
                <a:gd fmla="val 8571" name="adj"/>
              </a:avLst>
            </a:prstGeom>
            <a:solidFill>
              <a:srgbClr val="EAF3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5619750" y="2381250"/>
              <a:ext cx="952500" cy="952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6"/>
            <p:cNvSpPr txBox="1"/>
            <p:nvPr/>
          </p:nvSpPr>
          <p:spPr>
            <a:xfrm>
              <a:off x="5619750" y="2439670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2D76D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visibility_off</a:t>
              </a:r>
              <a:endParaRPr sz="4000">
                <a:solidFill>
                  <a:srgbClr val="2D76D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9" name="Google Shape;179;p6"/>
            <p:cNvSpPr txBox="1"/>
            <p:nvPr/>
          </p:nvSpPr>
          <p:spPr>
            <a:xfrm>
              <a:off x="4572000" y="36195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73B7C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竄改</a:t>
              </a:r>
              <a:r>
                <a:rPr b="0" lang="en-US" sz="2400">
                  <a:solidFill>
                    <a:srgbClr val="073B7C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成績單</a:t>
              </a:r>
              <a:endParaRPr b="0" sz="2400">
                <a:solidFill>
                  <a:srgbClr val="073B7C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546E7A"/>
                  </a:solidFill>
                  <a:latin typeface="Noto Sans"/>
                  <a:ea typeface="Noto Sans"/>
                  <a:cs typeface="Noto Sans"/>
                  <a:sym typeface="Noto Sans"/>
                </a:rPr>
                <a:t>不敢直視的挫折</a:t>
              </a:r>
              <a:endParaRPr b="1" sz="1400">
                <a:solidFill>
                  <a:srgbClr val="546E7A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4410075" y="2124075"/>
              <a:ext cx="419100" cy="419100"/>
            </a:xfrm>
            <a:prstGeom prst="ellipse">
              <a:avLst/>
            </a:prstGeom>
            <a:solidFill>
              <a:srgbClr val="0B4F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6"/>
            <p:cNvSpPr txBox="1"/>
            <p:nvPr/>
          </p:nvSpPr>
          <p:spPr>
            <a:xfrm>
              <a:off x="4410075" y="212407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b="0" sz="14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</p:grpSp>
      <p:grpSp>
        <p:nvGrpSpPr>
          <p:cNvPr id="182" name="Google Shape;182;p6"/>
          <p:cNvGrpSpPr/>
          <p:nvPr/>
        </p:nvGrpSpPr>
        <p:grpSpPr>
          <a:xfrm>
            <a:off x="8001000" y="2095500"/>
            <a:ext cx="3429000" cy="2667000"/>
            <a:chOff x="8001000" y="2095500"/>
            <a:chExt cx="3429000" cy="2667000"/>
          </a:xfrm>
        </p:grpSpPr>
        <p:sp>
          <p:nvSpPr>
            <p:cNvPr id="183" name="Google Shape;183;p6"/>
            <p:cNvSpPr/>
            <p:nvPr/>
          </p:nvSpPr>
          <p:spPr>
            <a:xfrm>
              <a:off x="8001000" y="2095500"/>
              <a:ext cx="3429000" cy="26670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9239250" y="2381250"/>
              <a:ext cx="952500" cy="9525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6"/>
            <p:cNvSpPr txBox="1"/>
            <p:nvPr/>
          </p:nvSpPr>
          <p:spPr>
            <a:xfrm>
              <a:off x="9239250" y="2381250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?</a:t>
              </a:r>
              <a:endParaRPr b="0" sz="3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86" name="Google Shape;186;p6"/>
            <p:cNvSpPr txBox="1"/>
            <p:nvPr/>
          </p:nvSpPr>
          <p:spPr>
            <a:xfrm>
              <a:off x="8191500" y="36195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73B7C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理化像外星語</a:t>
              </a:r>
              <a:endParaRPr b="0" sz="2400">
                <a:solidFill>
                  <a:srgbClr val="073B7C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546E7A"/>
                  </a:solidFill>
                  <a:latin typeface="Noto Sans"/>
                  <a:ea typeface="Noto Sans"/>
                  <a:cs typeface="Noto Sans"/>
                  <a:sym typeface="Noto Sans"/>
                </a:rPr>
                <a:t>全然陌生的領域</a:t>
              </a:r>
              <a:endParaRPr b="1" sz="1400">
                <a:solidFill>
                  <a:srgbClr val="546E7A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8029575" y="2124075"/>
              <a:ext cx="419100" cy="419100"/>
            </a:xfrm>
            <a:prstGeom prst="ellipse">
              <a:avLst/>
            </a:prstGeom>
            <a:solidFill>
              <a:srgbClr val="0B4F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6"/>
            <p:cNvSpPr txBox="1"/>
            <p:nvPr/>
          </p:nvSpPr>
          <p:spPr>
            <a:xfrm>
              <a:off x="8029575" y="212407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3</a:t>
              </a:r>
              <a:endParaRPr b="0" sz="14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</p:grpSp>
      <p:sp>
        <p:nvSpPr>
          <p:cNvPr id="189" name="Google Shape;189;p6"/>
          <p:cNvSpPr/>
          <p:nvPr/>
        </p:nvSpPr>
        <p:spPr>
          <a:xfrm>
            <a:off x="762000" y="5048250"/>
            <a:ext cx="10668000" cy="5715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1047750" y="5048250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我曾以為：</a:t>
            </a:r>
            <a:r>
              <a:rPr b="1" lang="en-US" sz="2000">
                <a:solidFill>
                  <a:srgbClr val="19BBD4"/>
                </a:solidFill>
                <a:latin typeface="Noto Sans"/>
                <a:ea typeface="Noto Sans"/>
                <a:cs typeface="Noto Sans"/>
                <a:sym typeface="Noto Sans"/>
              </a:rPr>
              <a:t>科學不是我的世界。</a:t>
            </a:r>
            <a:endParaRPr b="1" sz="20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9334500" y="-1333500"/>
            <a:ext cx="4191000" cy="4191000"/>
          </a:xfrm>
          <a:prstGeom prst="ellipse">
            <a:avLst/>
          </a:prstGeom>
          <a:solidFill>
            <a:srgbClr val="2D76D6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-666750" y="-666750"/>
            <a:ext cx="2286000" cy="2286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文青的覺醒：憤怒需要</a:t>
            </a:r>
            <a:r>
              <a:rPr b="0" lang="en-US" sz="4200">
                <a:solidFill>
                  <a:srgbClr val="19BBD4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數據</a:t>
            </a:r>
            <a:endParaRPr b="0" sz="420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809625" y="1095375"/>
            <a:ext cx="8572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rPr>
              <a:t>憤怒能啟動關注；方法才能讓關注產生影響。</a:t>
            </a:r>
            <a:endParaRPr b="1" sz="1800">
              <a:solidFill>
                <a:srgbClr val="B8C5D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762000" y="2000250"/>
            <a:ext cx="3429000" cy="285750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9050">
            <a:solidFill>
              <a:srgbClr val="D7E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7"/>
          <p:cNvGrpSpPr/>
          <p:nvPr/>
        </p:nvGrpSpPr>
        <p:grpSpPr>
          <a:xfrm>
            <a:off x="2047875" y="2143125"/>
            <a:ext cx="857400" cy="915820"/>
            <a:chOff x="2047875" y="2143125"/>
            <a:chExt cx="857400" cy="915820"/>
          </a:xfrm>
        </p:grpSpPr>
        <p:sp>
          <p:nvSpPr>
            <p:cNvPr id="203" name="Google Shape;203;p7"/>
            <p:cNvSpPr/>
            <p:nvPr/>
          </p:nvSpPr>
          <p:spPr>
            <a:xfrm>
              <a:off x="2047875" y="2143125"/>
              <a:ext cx="857400" cy="8574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7"/>
            <p:cNvSpPr txBox="1"/>
            <p:nvPr/>
          </p:nvSpPr>
          <p:spPr>
            <a:xfrm>
              <a:off x="2047875" y="2201545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2D76D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favorite_border</a:t>
              </a:r>
              <a:endParaRPr sz="4000">
                <a:solidFill>
                  <a:srgbClr val="2D76D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205" name="Google Shape;205;p7"/>
          <p:cNvSpPr/>
          <p:nvPr/>
        </p:nvSpPr>
        <p:spPr>
          <a:xfrm>
            <a:off x="952500" y="31432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想關心社會</a:t>
            </a:r>
            <a:endParaRPr b="0" sz="20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952500" y="3571875"/>
            <a:ext cx="304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55A64"/>
                </a:solidFill>
                <a:latin typeface="Noto Sans"/>
                <a:ea typeface="Noto Sans"/>
                <a:cs typeface="Noto Sans"/>
                <a:sym typeface="Noto Sans"/>
              </a:rPr>
              <a:t>但議題背後全是科學</a:t>
            </a:r>
            <a:endParaRPr b="1" sz="1600">
              <a:solidFill>
                <a:srgbClr val="455A6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143000" y="4191000"/>
            <a:ext cx="2667000" cy="419100"/>
          </a:xfrm>
          <a:prstGeom prst="roundRect">
            <a:avLst>
              <a:gd fmla="val 50000" name="adj"/>
            </a:avLst>
          </a:prstGeom>
          <a:solidFill>
            <a:srgbClr val="F6FA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1143000" y="419100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rPr>
              <a:t>食安、能源、環保</a:t>
            </a:r>
            <a:endParaRPr b="1" sz="1300">
              <a:solidFill>
                <a:srgbClr val="073B7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381500" y="2000250"/>
            <a:ext cx="3429000" cy="2857500"/>
          </a:xfrm>
          <a:prstGeom prst="roundRect">
            <a:avLst>
              <a:gd fmla="val 6666" name="adj"/>
            </a:avLst>
          </a:prstGeom>
          <a:solidFill>
            <a:srgbClr val="EAF3FF"/>
          </a:solidFill>
          <a:ln cap="flat" cmpd="sng" w="19050">
            <a:solidFill>
              <a:srgbClr val="D7E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" name="Google Shape;210;p7"/>
          <p:cNvGrpSpPr/>
          <p:nvPr/>
        </p:nvGrpSpPr>
        <p:grpSpPr>
          <a:xfrm>
            <a:off x="5667375" y="2143125"/>
            <a:ext cx="857400" cy="915820"/>
            <a:chOff x="5667375" y="2143125"/>
            <a:chExt cx="857400" cy="915820"/>
          </a:xfrm>
        </p:grpSpPr>
        <p:sp>
          <p:nvSpPr>
            <p:cNvPr id="211" name="Google Shape;211;p7"/>
            <p:cNvSpPr/>
            <p:nvPr/>
          </p:nvSpPr>
          <p:spPr>
            <a:xfrm>
              <a:off x="5667375" y="2143125"/>
              <a:ext cx="857400" cy="857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7"/>
            <p:cNvSpPr txBox="1"/>
            <p:nvPr/>
          </p:nvSpPr>
          <p:spPr>
            <a:xfrm>
              <a:off x="5667375" y="2201545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D9484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warning_amber</a:t>
              </a:r>
              <a:endParaRPr sz="4000">
                <a:solidFill>
                  <a:srgbClr val="D9484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213" name="Google Shape;213;p7"/>
          <p:cNvSpPr/>
          <p:nvPr/>
        </p:nvSpPr>
        <p:spPr>
          <a:xfrm>
            <a:off x="4572000" y="31432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沒有科學素養</a:t>
            </a:r>
            <a:endParaRPr b="0" sz="20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572000" y="3571875"/>
            <a:ext cx="304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94848"/>
                </a:solidFill>
                <a:latin typeface="Noto Sans"/>
                <a:ea typeface="Noto Sans"/>
                <a:cs typeface="Noto Sans"/>
                <a:sym typeface="Noto Sans"/>
              </a:rPr>
              <a:t>關懷容易變成情緒化發言</a:t>
            </a:r>
            <a:endParaRPr b="1" sz="1600">
              <a:solidFill>
                <a:srgbClr val="D9484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762500" y="4191000"/>
            <a:ext cx="2667000" cy="4191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4762500" y="419100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rPr>
              <a:t>先問證據，而不是先站隊</a:t>
            </a:r>
            <a:endParaRPr b="1" sz="1300">
              <a:solidFill>
                <a:srgbClr val="073B7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8001000" y="2000250"/>
            <a:ext cx="3429000" cy="285750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9050">
            <a:solidFill>
              <a:srgbClr val="D7E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8" name="Google Shape;218;p7"/>
          <p:cNvGrpSpPr/>
          <p:nvPr/>
        </p:nvGrpSpPr>
        <p:grpSpPr>
          <a:xfrm>
            <a:off x="9286875" y="2143125"/>
            <a:ext cx="857400" cy="915820"/>
            <a:chOff x="9286875" y="2143125"/>
            <a:chExt cx="857400" cy="915820"/>
          </a:xfrm>
        </p:grpSpPr>
        <p:sp>
          <p:nvSpPr>
            <p:cNvPr id="219" name="Google Shape;219;p7"/>
            <p:cNvSpPr/>
            <p:nvPr/>
          </p:nvSpPr>
          <p:spPr>
            <a:xfrm>
              <a:off x="9286875" y="2143125"/>
              <a:ext cx="857400" cy="8574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7"/>
            <p:cNvSpPr txBox="1"/>
            <p:nvPr/>
          </p:nvSpPr>
          <p:spPr>
            <a:xfrm>
              <a:off x="9286875" y="2201545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2D76D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4000">
                <a:solidFill>
                  <a:srgbClr val="2D76D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221" name="Google Shape;221;p7"/>
          <p:cNvSpPr/>
          <p:nvPr/>
        </p:nvSpPr>
        <p:spPr>
          <a:xfrm>
            <a:off x="8191500" y="31432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把憤怒轉成行動</a:t>
            </a:r>
            <a:endParaRPr b="0" sz="20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191500" y="3571875"/>
            <a:ext cx="304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55A64"/>
                </a:solidFill>
                <a:latin typeface="Noto Sans"/>
                <a:ea typeface="Noto Sans"/>
                <a:cs typeface="Noto Sans"/>
                <a:sym typeface="Noto Sans"/>
              </a:rPr>
              <a:t>定義問題、查資料、看方法</a:t>
            </a:r>
            <a:endParaRPr b="1" sz="1600">
              <a:solidFill>
                <a:srgbClr val="455A6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8382000" y="4191000"/>
            <a:ext cx="2667000" cy="419100"/>
          </a:xfrm>
          <a:prstGeom prst="roundRect">
            <a:avLst>
              <a:gd fmla="val 50000" name="adj"/>
            </a:avLst>
          </a:prstGeom>
          <a:solidFill>
            <a:srgbClr val="F6FA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8382000" y="419100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rPr>
              <a:t>讓關注能推動改變</a:t>
            </a:r>
            <a:endParaRPr b="1" sz="1300">
              <a:solidFill>
                <a:srgbClr val="073B7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762000" y="5095875"/>
            <a:ext cx="10668000" cy="5715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1047750" y="5095875"/>
            <a:ext cx="10096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沒有數據與方法的關懷，</a:t>
            </a:r>
            <a:r>
              <a:rPr b="1" lang="en-US" sz="1800">
                <a:solidFill>
                  <a:srgbClr val="19BBD4"/>
                </a:solidFill>
                <a:latin typeface="Noto Sans"/>
                <a:ea typeface="Noto Sans"/>
                <a:cs typeface="Noto Sans"/>
                <a:sym typeface="Noto Sans"/>
              </a:rPr>
              <a:t>很容易只剩姿態</a:t>
            </a: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b="1" sz="18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9048750" y="-1428750"/>
            <a:ext cx="4762500" cy="4762500"/>
          </a:xfrm>
          <a:prstGeom prst="ellipse">
            <a:avLst/>
          </a:prstGeom>
          <a:solidFill>
            <a:srgbClr val="2D76D6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-476250" y="-95250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594360" y="-9086088"/>
            <a:ext cx="10241400" cy="64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rPr>
              <a:t>科學傳播面對的不是單一缺口</a:t>
            </a:r>
            <a:endParaRPr b="1" i="0" sz="3200">
              <a:solidFill>
                <a:srgbClr val="073B7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36" name="Google Shape;236;p8"/>
          <p:cNvGrpSpPr/>
          <p:nvPr/>
        </p:nvGrpSpPr>
        <p:grpSpPr>
          <a:xfrm>
            <a:off x="762000" y="476250"/>
            <a:ext cx="10668000" cy="1095375"/>
            <a:chOff x="762000" y="476250"/>
            <a:chExt cx="10668000" cy="1095375"/>
          </a:xfrm>
        </p:grpSpPr>
        <p:sp>
          <p:nvSpPr>
            <p:cNvPr id="237" name="Google Shape;237;p8"/>
            <p:cNvSpPr txBox="1"/>
            <p:nvPr/>
          </p:nvSpPr>
          <p:spPr>
            <a:xfrm>
              <a:off x="762000" y="476250"/>
              <a:ext cx="1066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科學傳播面對的不是單一缺口</a:t>
              </a:r>
              <a:endParaRPr b="0" sz="36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38" name="Google Shape;238;p8"/>
            <p:cNvSpPr txBox="1"/>
            <p:nvPr/>
          </p:nvSpPr>
          <p:spPr>
            <a:xfrm>
              <a:off x="762000" y="1190625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B8C5D8"/>
                  </a:solidFill>
                  <a:latin typeface="Noto Sans"/>
                  <a:ea typeface="Noto Sans"/>
                  <a:cs typeface="Noto Sans"/>
                  <a:sym typeface="Noto Sans"/>
                </a:rPr>
                <a:t>而是知識、焦慮與注意力的系統性落差。</a:t>
              </a:r>
              <a:endParaRPr b="1" sz="18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239" name="Google Shape;239;p8"/>
          <p:cNvSpPr/>
          <p:nvPr/>
        </p:nvSpPr>
        <p:spPr>
          <a:xfrm>
            <a:off x="621792" y="-8418576"/>
            <a:ext cx="87783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rPr>
              <a:t>而是知識、焦慮與注意力的系統性落差。</a:t>
            </a:r>
            <a:endParaRPr b="1" i="0" sz="1600">
              <a:solidFill>
                <a:srgbClr val="073B7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40" name="Google Shape;240;p8"/>
          <p:cNvGrpSpPr/>
          <p:nvPr/>
        </p:nvGrpSpPr>
        <p:grpSpPr>
          <a:xfrm>
            <a:off x="1143000" y="2286000"/>
            <a:ext cx="4572000" cy="2667000"/>
            <a:chOff x="1143000" y="2286000"/>
            <a:chExt cx="4572000" cy="2667000"/>
          </a:xfrm>
        </p:grpSpPr>
        <p:sp>
          <p:nvSpPr>
            <p:cNvPr id="241" name="Google Shape;241;p8"/>
            <p:cNvSpPr/>
            <p:nvPr/>
          </p:nvSpPr>
          <p:spPr>
            <a:xfrm>
              <a:off x="1143000" y="2286000"/>
              <a:ext cx="4572000" cy="26670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1476375" y="2333625"/>
              <a:ext cx="857400" cy="8574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8"/>
            <p:cNvSpPr txBox="1"/>
            <p:nvPr/>
          </p:nvSpPr>
          <p:spPr>
            <a:xfrm>
              <a:off x="1476375" y="2392045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2D76D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elephant</a:t>
              </a:r>
              <a:endParaRPr sz="1000">
                <a:solidFill>
                  <a:srgbClr val="2D76D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4" name="Google Shape;244;p8"/>
            <p:cNvSpPr txBox="1"/>
            <p:nvPr/>
          </p:nvSpPr>
          <p:spPr>
            <a:xfrm>
              <a:off x="2476500" y="2476500"/>
              <a:ext cx="2952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房間裡的大象</a:t>
              </a:r>
              <a:endParaRPr b="0" sz="24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45" name="Google Shape;245;p8"/>
            <p:cNvSpPr txBox="1"/>
            <p:nvPr/>
          </p:nvSpPr>
          <p:spPr>
            <a:xfrm>
              <a:off x="1428750" y="3238500"/>
              <a:ext cx="4000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巨大且存在，卻被集體忽視的課題。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111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546E7A"/>
                </a:buClr>
                <a:buSzPts val="1300"/>
                <a:buFont typeface="Noto Sans"/>
                <a:buChar char="●"/>
              </a:pPr>
              <a:r>
                <a:rPr b="1" lang="en-US" sz="1300">
                  <a:solidFill>
                    <a:srgbClr val="546E7A"/>
                  </a:solidFill>
                  <a:latin typeface="Noto Sans"/>
                  <a:ea typeface="Noto Sans"/>
                  <a:cs typeface="Noto Sans"/>
                  <a:sym typeface="Noto Sans"/>
                </a:rPr>
                <a:t>科學家時間有限、語言太深</a:t>
              </a:r>
              <a:endParaRPr b="1" sz="1300">
                <a:solidFill>
                  <a:srgbClr val="546E7A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111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546E7A"/>
                </a:buClr>
                <a:buSzPts val="1300"/>
                <a:buFont typeface="Noto Sans"/>
                <a:buChar char="●"/>
              </a:pPr>
              <a:r>
                <a:rPr b="1" lang="en-US" sz="1300">
                  <a:solidFill>
                    <a:srgbClr val="546E7A"/>
                  </a:solidFill>
                  <a:latin typeface="Noto Sans"/>
                  <a:ea typeface="Noto Sans"/>
                  <a:cs typeface="Noto Sans"/>
                  <a:sym typeface="Noto Sans"/>
                </a:rPr>
                <a:t>大眾焦慮，只想要簡單答案</a:t>
              </a:r>
              <a:endParaRPr b="1" sz="1300">
                <a:solidFill>
                  <a:srgbClr val="546E7A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pic>
        <p:nvPicPr>
          <p:cNvPr descr="一隻房間裡的大象，極簡線條風" id="246" name="Google Shape;24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7125" y="2986650"/>
            <a:ext cx="2222350" cy="2222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8"/>
          <p:cNvGrpSpPr/>
          <p:nvPr/>
        </p:nvGrpSpPr>
        <p:grpSpPr>
          <a:xfrm>
            <a:off x="6477000" y="2286000"/>
            <a:ext cx="4572000" cy="2667000"/>
            <a:chOff x="6477000" y="2286000"/>
            <a:chExt cx="4572000" cy="2667000"/>
          </a:xfrm>
        </p:grpSpPr>
        <p:sp>
          <p:nvSpPr>
            <p:cNvPr id="248" name="Google Shape;248;p8"/>
            <p:cNvSpPr/>
            <p:nvPr/>
          </p:nvSpPr>
          <p:spPr>
            <a:xfrm>
              <a:off x="6477000" y="2286000"/>
              <a:ext cx="4572000" cy="2667000"/>
            </a:xfrm>
            <a:prstGeom prst="roundRect">
              <a:avLst>
                <a:gd fmla="val 8571" name="adj"/>
              </a:avLst>
            </a:prstGeom>
            <a:solidFill>
              <a:srgbClr val="EAF3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6810375" y="2333625"/>
              <a:ext cx="857400" cy="857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8"/>
            <p:cNvSpPr txBox="1"/>
            <p:nvPr/>
          </p:nvSpPr>
          <p:spPr>
            <a:xfrm>
              <a:off x="6810375" y="2392045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B4FB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waves</a:t>
              </a:r>
              <a:endParaRPr sz="4000">
                <a:solidFill>
                  <a:srgbClr val="0B4FB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1" name="Google Shape;251;p8"/>
            <p:cNvSpPr txBox="1"/>
            <p:nvPr/>
          </p:nvSpPr>
          <p:spPr>
            <a:xfrm>
              <a:off x="7810500" y="2476500"/>
              <a:ext cx="2952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黑天鵝</a:t>
              </a:r>
              <a:endParaRPr b="0" sz="24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52" name="Google Shape;252;p8"/>
            <p:cNvSpPr txBox="1"/>
            <p:nvPr/>
          </p:nvSpPr>
          <p:spPr>
            <a:xfrm>
              <a:off x="6762750" y="3238500"/>
              <a:ext cx="4000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低機率，卻造成巨大影響。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111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546E7A"/>
                </a:buClr>
                <a:buSzPts val="1300"/>
                <a:buFont typeface="Noto Sans"/>
                <a:buChar char="●"/>
              </a:pPr>
              <a:r>
                <a:rPr b="1" lang="en-US" sz="1300">
                  <a:solidFill>
                    <a:srgbClr val="546E7A"/>
                  </a:solidFill>
                  <a:latin typeface="Noto Sans"/>
                  <a:ea typeface="Noto Sans"/>
                  <a:cs typeface="Noto Sans"/>
                  <a:sym typeface="Noto Sans"/>
                </a:rPr>
                <a:t>錯誤資訊、危機事件爆發</a:t>
              </a:r>
              <a:endParaRPr b="1" sz="1300">
                <a:solidFill>
                  <a:srgbClr val="546E7A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111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546E7A"/>
                </a:buClr>
                <a:buSzPts val="1300"/>
                <a:buFont typeface="Noto Sans"/>
                <a:buChar char="●"/>
              </a:pPr>
              <a:r>
                <a:rPr b="1" lang="en-US" sz="1300">
                  <a:solidFill>
                    <a:srgbClr val="546E7A"/>
                  </a:solidFill>
                  <a:latin typeface="Noto Sans"/>
                  <a:ea typeface="Noto Sans"/>
                  <a:cs typeface="Noto Sans"/>
                  <a:sym typeface="Noto Sans"/>
                </a:rPr>
                <a:t>往往以超出預期的方式擴散</a:t>
              </a:r>
              <a:endParaRPr b="1" sz="1300">
                <a:solidFill>
                  <a:srgbClr val="546E7A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253" name="Google Shape;253;p8"/>
          <p:cNvSpPr/>
          <p:nvPr/>
        </p:nvSpPr>
        <p:spPr>
          <a:xfrm>
            <a:off x="762000" y="5238750"/>
            <a:ext cx="10668000" cy="5715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1047750" y="5238750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問題不只是知識不足；問題在於知識如何被</a:t>
            </a:r>
            <a:r>
              <a:rPr b="1" lang="en-US" sz="1800">
                <a:solidFill>
                  <a:srgbClr val="19BBD4"/>
                </a:solidFill>
                <a:latin typeface="Noto Sans"/>
                <a:ea typeface="Noto Sans"/>
                <a:cs typeface="Noto Sans"/>
                <a:sym typeface="Noto Sans"/>
              </a:rPr>
              <a:t>翻譯、信任與使用</a:t>
            </a: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b="1" sz="18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要黑色的" id="255" name="Google Shape;25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90668" y="2986650"/>
            <a:ext cx="1958324" cy="195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/>
          <p:nvPr/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8763000" y="-1524000"/>
            <a:ext cx="5334000" cy="5334000"/>
          </a:xfrm>
          <a:prstGeom prst="ellipse">
            <a:avLst/>
          </a:prstGeom>
          <a:solidFill>
            <a:srgbClr val="2D76D6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-571500" y="-952500"/>
            <a:ext cx="2667000" cy="2667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" name="Google Shape;264;p9"/>
          <p:cNvGrpSpPr/>
          <p:nvPr/>
        </p:nvGrpSpPr>
        <p:grpSpPr>
          <a:xfrm>
            <a:off x="762000" y="571500"/>
            <a:ext cx="10715625" cy="1047750"/>
            <a:chOff x="762000" y="571500"/>
            <a:chExt cx="10715625" cy="1047750"/>
          </a:xfrm>
        </p:grpSpPr>
        <p:sp>
          <p:nvSpPr>
            <p:cNvPr id="265" name="Google Shape;265;p9"/>
            <p:cNvSpPr txBox="1"/>
            <p:nvPr/>
          </p:nvSpPr>
          <p:spPr>
            <a:xfrm>
              <a:off x="762000" y="571500"/>
              <a:ext cx="1066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把知識做成可被使用的系統</a:t>
              </a:r>
              <a:endParaRPr b="0" sz="36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66" name="Google Shape;266;p9"/>
            <p:cNvSpPr txBox="1"/>
            <p:nvPr/>
          </p:nvSpPr>
          <p:spPr>
            <a:xfrm>
              <a:off x="809625" y="1238250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B8C5D8"/>
                  </a:solidFill>
                  <a:latin typeface="Noto Sans"/>
                  <a:ea typeface="Noto Sans"/>
                  <a:cs typeface="Noto Sans"/>
                  <a:sym typeface="Noto Sans"/>
                </a:rPr>
                <a:t>人們需要的不是更多資訊，而是更好的取得、參與與使用方式。</a:t>
              </a:r>
              <a:endParaRPr b="1" sz="18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267" name="Google Shape;267;p9"/>
          <p:cNvGrpSpPr/>
          <p:nvPr/>
        </p:nvGrpSpPr>
        <p:grpSpPr>
          <a:xfrm>
            <a:off x="762000" y="2095500"/>
            <a:ext cx="3429000" cy="2667000"/>
            <a:chOff x="762000" y="2095500"/>
            <a:chExt cx="3429000" cy="2667000"/>
          </a:xfrm>
        </p:grpSpPr>
        <p:sp>
          <p:nvSpPr>
            <p:cNvPr id="268" name="Google Shape;268;p9"/>
            <p:cNvSpPr/>
            <p:nvPr/>
          </p:nvSpPr>
          <p:spPr>
            <a:xfrm>
              <a:off x="762000" y="2095500"/>
              <a:ext cx="3429000" cy="26670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9"/>
            <p:cNvSpPr txBox="1"/>
            <p:nvPr/>
          </p:nvSpPr>
          <p:spPr>
            <a:xfrm>
              <a:off x="1047750" y="2333625"/>
              <a:ext cx="2857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D94848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資訊問題</a:t>
              </a:r>
              <a:endParaRPr b="0" sz="2000">
                <a:solidFill>
                  <a:srgbClr val="D94848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073B7C"/>
                </a:buClr>
                <a:buSzPts val="1300"/>
                <a:buFont typeface="Noto Sans"/>
                <a:buChar char="●"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惡意資訊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73B7C"/>
                </a:buClr>
                <a:buSzPts val="1300"/>
                <a:buFont typeface="Noto Sans"/>
                <a:buChar char="●"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錯誤資訊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73B7C"/>
                </a:buClr>
                <a:buSzPts val="1300"/>
                <a:buFont typeface="Noto Sans"/>
                <a:buChar char="●"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瑣碎資訊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73B7C"/>
                </a:buClr>
                <a:buSzPts val="1300"/>
                <a:buFont typeface="Noto Sans"/>
                <a:buChar char="●"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高深資訊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073B7C"/>
                </a:buClr>
                <a:buSzPts val="1300"/>
                <a:buFont typeface="Noto Sans"/>
                <a:buChar char="●"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無用資訊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270" name="Google Shape;270;p9"/>
          <p:cNvGrpSpPr/>
          <p:nvPr/>
        </p:nvGrpSpPr>
        <p:grpSpPr>
          <a:xfrm>
            <a:off x="4381500" y="2095500"/>
            <a:ext cx="3429000" cy="2667000"/>
            <a:chOff x="4381500" y="2095500"/>
            <a:chExt cx="3429000" cy="2667000"/>
          </a:xfrm>
        </p:grpSpPr>
        <p:sp>
          <p:nvSpPr>
            <p:cNvPr id="271" name="Google Shape;271;p9"/>
            <p:cNvSpPr/>
            <p:nvPr/>
          </p:nvSpPr>
          <p:spPr>
            <a:xfrm>
              <a:off x="4381500" y="2095500"/>
              <a:ext cx="3429000" cy="2667000"/>
            </a:xfrm>
            <a:prstGeom prst="roundRect">
              <a:avLst>
                <a:gd fmla="val 7142" name="adj"/>
              </a:avLst>
            </a:prstGeom>
            <a:solidFill>
              <a:srgbClr val="EAF3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9"/>
            <p:cNvSpPr txBox="1"/>
            <p:nvPr/>
          </p:nvSpPr>
          <p:spPr>
            <a:xfrm>
              <a:off x="4667250" y="2333625"/>
              <a:ext cx="2857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知識需求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073B7C"/>
                </a:buClr>
                <a:buSzPts val="1300"/>
                <a:buFont typeface="Noto Sans"/>
                <a:buChar char="●"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正確可靠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73B7C"/>
                </a:buClr>
                <a:buSzPts val="1300"/>
                <a:buFont typeface="Noto Sans"/>
                <a:buChar char="●"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輕鬆獲得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73B7C"/>
                </a:buClr>
                <a:buSzPts val="1300"/>
                <a:buFont typeface="Noto Sans"/>
                <a:buChar char="●"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用習慣的方式獲得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73B7C"/>
                </a:buClr>
                <a:buSzPts val="1300"/>
                <a:buFont typeface="Noto Sans"/>
                <a:buChar char="●"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透過知識獲利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073B7C"/>
                </a:buClr>
                <a:buSzPts val="1300"/>
                <a:buFont typeface="Noto Sans"/>
                <a:buChar char="●"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支持與參與知識產品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273" name="Google Shape;273;p9"/>
          <p:cNvGrpSpPr/>
          <p:nvPr/>
        </p:nvGrpSpPr>
        <p:grpSpPr>
          <a:xfrm>
            <a:off x="8001000" y="2095500"/>
            <a:ext cx="3429000" cy="2667000"/>
            <a:chOff x="8001000" y="2095500"/>
            <a:chExt cx="3429000" cy="2667000"/>
          </a:xfrm>
        </p:grpSpPr>
        <p:sp>
          <p:nvSpPr>
            <p:cNvPr id="274" name="Google Shape;274;p9"/>
            <p:cNvSpPr/>
            <p:nvPr/>
          </p:nvSpPr>
          <p:spPr>
            <a:xfrm>
              <a:off x="8001000" y="2095500"/>
              <a:ext cx="3429000" cy="26670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9"/>
            <p:cNvSpPr txBox="1"/>
            <p:nvPr/>
          </p:nvSpPr>
          <p:spPr>
            <a:xfrm>
              <a:off x="8286750" y="2333625"/>
              <a:ext cx="2857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解法系統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-3238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073B7C"/>
                </a:buClr>
                <a:buSzPts val="1500"/>
                <a:buFont typeface="Noto Sans"/>
                <a:buChar char="●"/>
              </a:pPr>
              <a:r>
                <a:rPr b="1" lang="en-US" sz="15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B2C 媒體</a:t>
              </a:r>
              <a:endParaRPr b="1" sz="15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73B7C"/>
                </a:buClr>
                <a:buSzPts val="1500"/>
                <a:buFont typeface="Noto Sans"/>
                <a:buChar char="●"/>
              </a:pPr>
              <a:r>
                <a:rPr b="1" lang="en-US" sz="15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C2C 社群</a:t>
              </a:r>
              <a:endParaRPr b="1" sz="15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073B7C"/>
                </a:buClr>
                <a:buSzPts val="1500"/>
                <a:buFont typeface="Noto Sans"/>
                <a:buChar char="●"/>
              </a:pPr>
              <a:r>
                <a:rPr b="1" lang="en-US" sz="15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B2B2C 系統</a:t>
              </a:r>
              <a:endParaRPr b="1" sz="15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276" name="Google Shape;276;p9"/>
          <p:cNvGrpSpPr/>
          <p:nvPr/>
        </p:nvGrpSpPr>
        <p:grpSpPr>
          <a:xfrm>
            <a:off x="762000" y="5048250"/>
            <a:ext cx="10668000" cy="571500"/>
            <a:chOff x="762000" y="5048250"/>
            <a:chExt cx="10668000" cy="571500"/>
          </a:xfrm>
        </p:grpSpPr>
        <p:sp>
          <p:nvSpPr>
            <p:cNvPr id="277" name="Google Shape;277;p9"/>
            <p:cNvSpPr/>
            <p:nvPr/>
          </p:nvSpPr>
          <p:spPr>
            <a:xfrm>
              <a:off x="762000" y="5048250"/>
              <a:ext cx="10668000" cy="571500"/>
            </a:xfrm>
            <a:prstGeom prst="roundRect">
              <a:avLst>
                <a:gd fmla="val 50000" name="adj"/>
              </a:avLst>
            </a:prstGeom>
            <a:solidFill>
              <a:srgbClr val="073B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9"/>
            <p:cNvSpPr txBox="1"/>
            <p:nvPr/>
          </p:nvSpPr>
          <p:spPr>
            <a:xfrm>
              <a:off x="1047750" y="5048250"/>
              <a:ext cx="1009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讓知識從「內容」變成「</a:t>
              </a:r>
              <a:r>
                <a:rPr b="1" lang="en-US" sz="1800">
                  <a:solidFill>
                    <a:srgbClr val="19BBD4"/>
                  </a:solidFill>
                  <a:latin typeface="Noto Sans"/>
                  <a:ea typeface="Noto Sans"/>
                  <a:cs typeface="Noto Sans"/>
                  <a:sym typeface="Noto Sans"/>
                </a:rPr>
                <a:t>使用者能進入、停留、共創的系統</a:t>
              </a:r>
              <a:r>
                <a:rPr b="1" lang="en-US" sz="18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」。</a:t>
              </a:r>
              <a:endParaRPr b="1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9048750" y="-1428750"/>
            <a:ext cx="4762500" cy="4762500"/>
          </a:xfrm>
          <a:prstGeom prst="ellipse">
            <a:avLst/>
          </a:prstGeom>
          <a:solidFill>
            <a:srgbClr val="2D76D6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-476250" y="-95250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" name="Google Shape;287;p10"/>
          <p:cNvGrpSpPr/>
          <p:nvPr/>
        </p:nvGrpSpPr>
        <p:grpSpPr>
          <a:xfrm>
            <a:off x="762000" y="476250"/>
            <a:ext cx="10668000" cy="1047750"/>
            <a:chOff x="762000" y="476250"/>
            <a:chExt cx="10668000" cy="1047750"/>
          </a:xfrm>
        </p:grpSpPr>
        <p:sp>
          <p:nvSpPr>
            <p:cNvPr id="288" name="Google Shape;288;p10"/>
            <p:cNvSpPr txBox="1"/>
            <p:nvPr/>
          </p:nvSpPr>
          <p:spPr>
            <a:xfrm>
              <a:off x="762000" y="476250"/>
              <a:ext cx="1066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科學素養的工作流程</a:t>
              </a:r>
              <a:endParaRPr b="0" sz="36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89" name="Google Shape;289;p10"/>
            <p:cNvSpPr txBox="1"/>
            <p:nvPr/>
          </p:nvSpPr>
          <p:spPr>
            <a:xfrm>
              <a:off x="762000" y="1143000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B8C5D8"/>
                  </a:solidFill>
                  <a:latin typeface="Noto Sans"/>
                  <a:ea typeface="Noto Sans"/>
                  <a:cs typeface="Noto Sans"/>
                  <a:sym typeface="Noto Sans"/>
                </a:rPr>
                <a:t>不是一口氣相信，而是一段可反覆檢查的流程。</a:t>
              </a:r>
              <a:endParaRPr b="1" sz="18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290" name="Google Shape;290;p10"/>
          <p:cNvGrpSpPr/>
          <p:nvPr/>
        </p:nvGrpSpPr>
        <p:grpSpPr>
          <a:xfrm>
            <a:off x="571500" y="2095500"/>
            <a:ext cx="2095500" cy="2476500"/>
            <a:chOff x="571500" y="2095500"/>
            <a:chExt cx="2095500" cy="2476500"/>
          </a:xfrm>
        </p:grpSpPr>
        <p:sp>
          <p:nvSpPr>
            <p:cNvPr id="291" name="Google Shape;291;p10"/>
            <p:cNvSpPr/>
            <p:nvPr/>
          </p:nvSpPr>
          <p:spPr>
            <a:xfrm>
              <a:off x="571500" y="2095500"/>
              <a:ext cx="2095500" cy="24765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0"/>
            <p:cNvSpPr/>
            <p:nvPr/>
          </p:nvSpPr>
          <p:spPr>
            <a:xfrm>
              <a:off x="1190625" y="2190750"/>
              <a:ext cx="857400" cy="8574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0"/>
            <p:cNvSpPr txBox="1"/>
            <p:nvPr/>
          </p:nvSpPr>
          <p:spPr>
            <a:xfrm>
              <a:off x="1190625" y="2249170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B4FB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pause</a:t>
              </a:r>
              <a:endParaRPr sz="4000">
                <a:solidFill>
                  <a:srgbClr val="0B4FB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94" name="Google Shape;294;p10"/>
            <p:cNvSpPr txBox="1"/>
            <p:nvPr/>
          </p:nvSpPr>
          <p:spPr>
            <a:xfrm>
              <a:off x="666750" y="31432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暫停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95" name="Google Shape;295;p10"/>
            <p:cNvSpPr txBox="1"/>
            <p:nvPr/>
          </p:nvSpPr>
          <p:spPr>
            <a:xfrm>
              <a:off x="666750" y="3667125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先不要被情緒帶走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296" name="Google Shape;296;p10"/>
          <p:cNvGrpSpPr/>
          <p:nvPr/>
        </p:nvGrpSpPr>
        <p:grpSpPr>
          <a:xfrm>
            <a:off x="2857500" y="2095500"/>
            <a:ext cx="2095500" cy="2476500"/>
            <a:chOff x="2857500" y="2095500"/>
            <a:chExt cx="2095500" cy="2476500"/>
          </a:xfrm>
        </p:grpSpPr>
        <p:sp>
          <p:nvSpPr>
            <p:cNvPr id="297" name="Google Shape;297;p10"/>
            <p:cNvSpPr/>
            <p:nvPr/>
          </p:nvSpPr>
          <p:spPr>
            <a:xfrm>
              <a:off x="2857500" y="2095500"/>
              <a:ext cx="2095500" cy="2476500"/>
            </a:xfrm>
            <a:prstGeom prst="roundRect">
              <a:avLst>
                <a:gd fmla="val 9090" name="adj"/>
              </a:avLst>
            </a:prstGeom>
            <a:solidFill>
              <a:srgbClr val="EAF3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3476625" y="2190750"/>
              <a:ext cx="857400" cy="857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0"/>
            <p:cNvSpPr txBox="1"/>
            <p:nvPr/>
          </p:nvSpPr>
          <p:spPr>
            <a:xfrm>
              <a:off x="3476625" y="2249170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B4FB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endParaRPr sz="4000">
                <a:solidFill>
                  <a:srgbClr val="0B4FB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0" name="Google Shape;300;p10"/>
            <p:cNvSpPr txBox="1"/>
            <p:nvPr/>
          </p:nvSpPr>
          <p:spPr>
            <a:xfrm>
              <a:off x="2952750" y="31432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觀察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01" name="Google Shape;301;p10"/>
            <p:cNvSpPr txBox="1"/>
            <p:nvPr/>
          </p:nvSpPr>
          <p:spPr>
            <a:xfrm>
              <a:off x="2952750" y="3667125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把現象跟脈絡分開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302" name="Google Shape;302;p10"/>
          <p:cNvGrpSpPr/>
          <p:nvPr/>
        </p:nvGrpSpPr>
        <p:grpSpPr>
          <a:xfrm>
            <a:off x="5143500" y="2095500"/>
            <a:ext cx="2095500" cy="2476500"/>
            <a:chOff x="5143500" y="2095500"/>
            <a:chExt cx="2095500" cy="2476500"/>
          </a:xfrm>
        </p:grpSpPr>
        <p:sp>
          <p:nvSpPr>
            <p:cNvPr id="303" name="Google Shape;303;p10"/>
            <p:cNvSpPr/>
            <p:nvPr/>
          </p:nvSpPr>
          <p:spPr>
            <a:xfrm>
              <a:off x="5143500" y="2095500"/>
              <a:ext cx="2095500" cy="24765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0"/>
            <p:cNvSpPr/>
            <p:nvPr/>
          </p:nvSpPr>
          <p:spPr>
            <a:xfrm>
              <a:off x="5762625" y="2190750"/>
              <a:ext cx="857400" cy="8574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0"/>
            <p:cNvSpPr txBox="1"/>
            <p:nvPr/>
          </p:nvSpPr>
          <p:spPr>
            <a:xfrm>
              <a:off x="5762625" y="2249170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B4FB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4000">
                <a:solidFill>
                  <a:srgbClr val="0B4FB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6" name="Google Shape;306;p10"/>
            <p:cNvSpPr txBox="1"/>
            <p:nvPr/>
          </p:nvSpPr>
          <p:spPr>
            <a:xfrm>
              <a:off x="5238750" y="31432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找證據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07" name="Google Shape;307;p10"/>
            <p:cNvSpPr txBox="1"/>
            <p:nvPr/>
          </p:nvSpPr>
          <p:spPr>
            <a:xfrm>
              <a:off x="5238750" y="3667125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看來源、資料、方法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308" name="Google Shape;308;p10"/>
          <p:cNvGrpSpPr/>
          <p:nvPr/>
        </p:nvGrpSpPr>
        <p:grpSpPr>
          <a:xfrm>
            <a:off x="7429500" y="2095500"/>
            <a:ext cx="2095500" cy="2476500"/>
            <a:chOff x="7429500" y="2095500"/>
            <a:chExt cx="2095500" cy="2476500"/>
          </a:xfrm>
        </p:grpSpPr>
        <p:sp>
          <p:nvSpPr>
            <p:cNvPr id="309" name="Google Shape;309;p10"/>
            <p:cNvSpPr/>
            <p:nvPr/>
          </p:nvSpPr>
          <p:spPr>
            <a:xfrm>
              <a:off x="7429500" y="2095500"/>
              <a:ext cx="2095500" cy="2476500"/>
            </a:xfrm>
            <a:prstGeom prst="roundRect">
              <a:avLst>
                <a:gd fmla="val 9090" name="adj"/>
              </a:avLst>
            </a:prstGeom>
            <a:solidFill>
              <a:srgbClr val="EAF3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0"/>
            <p:cNvSpPr/>
            <p:nvPr/>
          </p:nvSpPr>
          <p:spPr>
            <a:xfrm>
              <a:off x="8048625" y="2190750"/>
              <a:ext cx="857400" cy="857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0"/>
            <p:cNvSpPr txBox="1"/>
            <p:nvPr/>
          </p:nvSpPr>
          <p:spPr>
            <a:xfrm>
              <a:off x="8048625" y="2249170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B4FB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4000">
                <a:solidFill>
                  <a:srgbClr val="0B4FB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2" name="Google Shape;312;p10"/>
            <p:cNvSpPr txBox="1"/>
            <p:nvPr/>
          </p:nvSpPr>
          <p:spPr>
            <a:xfrm>
              <a:off x="7524750" y="31432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形成推論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13" name="Google Shape;313;p10"/>
            <p:cNvSpPr txBox="1"/>
            <p:nvPr/>
          </p:nvSpPr>
          <p:spPr>
            <a:xfrm>
              <a:off x="7524750" y="3667125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說出可信度與限制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314" name="Google Shape;314;p10"/>
          <p:cNvGrpSpPr/>
          <p:nvPr/>
        </p:nvGrpSpPr>
        <p:grpSpPr>
          <a:xfrm>
            <a:off x="9715500" y="2095500"/>
            <a:ext cx="2095500" cy="2476500"/>
            <a:chOff x="9715500" y="2095500"/>
            <a:chExt cx="2095500" cy="2476500"/>
          </a:xfrm>
        </p:grpSpPr>
        <p:sp>
          <p:nvSpPr>
            <p:cNvPr id="315" name="Google Shape;315;p10"/>
            <p:cNvSpPr/>
            <p:nvPr/>
          </p:nvSpPr>
          <p:spPr>
            <a:xfrm>
              <a:off x="9715500" y="2095500"/>
              <a:ext cx="2095500" cy="24765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0"/>
            <p:cNvSpPr/>
            <p:nvPr/>
          </p:nvSpPr>
          <p:spPr>
            <a:xfrm>
              <a:off x="10334625" y="2190750"/>
              <a:ext cx="857400" cy="8574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0"/>
            <p:cNvSpPr txBox="1"/>
            <p:nvPr/>
          </p:nvSpPr>
          <p:spPr>
            <a:xfrm>
              <a:off x="10334625" y="2249170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B4FB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update</a:t>
              </a:r>
              <a:endParaRPr sz="4000">
                <a:solidFill>
                  <a:srgbClr val="0B4FB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8" name="Google Shape;318;p10"/>
            <p:cNvSpPr txBox="1"/>
            <p:nvPr/>
          </p:nvSpPr>
          <p:spPr>
            <a:xfrm>
              <a:off x="9810750" y="31432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願意修正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19" name="Google Shape;319;p10"/>
            <p:cNvSpPr txBox="1"/>
            <p:nvPr/>
          </p:nvSpPr>
          <p:spPr>
            <a:xfrm>
              <a:off x="9810750" y="3667125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新證據來了，就更新</a:t>
              </a:r>
              <a:endParaRPr b="1" sz="13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320" name="Google Shape;320;p10"/>
          <p:cNvGrpSpPr/>
          <p:nvPr/>
        </p:nvGrpSpPr>
        <p:grpSpPr>
          <a:xfrm>
            <a:off x="762000" y="4953000"/>
            <a:ext cx="10668000" cy="666900"/>
            <a:chOff x="762000" y="4953000"/>
            <a:chExt cx="10668000" cy="666900"/>
          </a:xfrm>
        </p:grpSpPr>
        <p:sp>
          <p:nvSpPr>
            <p:cNvPr id="321" name="Google Shape;321;p10"/>
            <p:cNvSpPr/>
            <p:nvPr/>
          </p:nvSpPr>
          <p:spPr>
            <a:xfrm>
              <a:off x="762000" y="4953000"/>
              <a:ext cx="10668000" cy="666900"/>
            </a:xfrm>
            <a:prstGeom prst="roundRect">
              <a:avLst>
                <a:gd fmla="val 50000" name="adj"/>
              </a:avLst>
            </a:prstGeom>
            <a:solidFill>
              <a:srgbClr val="073B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0"/>
            <p:cNvSpPr txBox="1"/>
            <p:nvPr/>
          </p:nvSpPr>
          <p:spPr>
            <a:xfrm>
              <a:off x="1047750" y="4953000"/>
              <a:ext cx="10096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重點：讓自己慢半拍，讓判斷</a:t>
              </a:r>
              <a:r>
                <a:rPr b="1" lang="en-US" sz="2200">
                  <a:solidFill>
                    <a:srgbClr val="19BBD4"/>
                  </a:solidFill>
                  <a:latin typeface="Noto Sans"/>
                  <a:ea typeface="Noto Sans"/>
                  <a:cs typeface="Noto Sans"/>
                  <a:sym typeface="Noto Sans"/>
                </a:rPr>
                <a:t>多一層</a:t>
              </a:r>
              <a:r>
                <a:rPr b="1" lang="en-US" sz="22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。</a:t>
              </a:r>
              <a:endParaRPr b="1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11"/>
          <p:cNvGrpSpPr/>
          <p:nvPr/>
        </p:nvGrpSpPr>
        <p:grpSpPr>
          <a:xfrm>
            <a:off x="-476250" y="-2095500"/>
            <a:ext cx="14763750" cy="5715000"/>
            <a:chOff x="-476250" y="-2095500"/>
            <a:chExt cx="14763750" cy="5715000"/>
          </a:xfrm>
        </p:grpSpPr>
        <p:sp>
          <p:nvSpPr>
            <p:cNvPr id="329" name="Google Shape;329;p11"/>
            <p:cNvSpPr/>
            <p:nvPr/>
          </p:nvSpPr>
          <p:spPr>
            <a:xfrm>
              <a:off x="0" y="0"/>
              <a:ext cx="12192000" cy="1714500"/>
            </a:xfrm>
            <a:prstGeom prst="rect">
              <a:avLst/>
            </a:prstGeom>
            <a:solidFill>
              <a:srgbClr val="073B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8572500" y="-2095500"/>
              <a:ext cx="5715000" cy="5715000"/>
            </a:xfrm>
            <a:prstGeom prst="ellipse">
              <a:avLst/>
            </a:prstGeom>
            <a:solidFill>
              <a:srgbClr val="2D76D6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-476250" y="-1047750"/>
              <a:ext cx="2857500" cy="285750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2" name="Google Shape;332;p11"/>
          <p:cNvSpPr/>
          <p:nvPr/>
        </p:nvSpPr>
        <p:spPr>
          <a:xfrm>
            <a:off x="762000" y="428625"/>
            <a:ext cx="10668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1831｜法拉第的指針</a:t>
            </a:r>
            <a:endParaRPr b="0" sz="360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762000" y="1047750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rPr>
              <a:t>變化，才會產生訊號。</a:t>
            </a:r>
            <a:endParaRPr b="1" sz="1800">
              <a:solidFill>
                <a:srgbClr val="B8C5D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334" name="Google Shape;334;p11"/>
          <p:cNvGrpSpPr/>
          <p:nvPr/>
        </p:nvGrpSpPr>
        <p:grpSpPr>
          <a:xfrm>
            <a:off x="762000" y="2000250"/>
            <a:ext cx="10668000" cy="2857500"/>
            <a:chOff x="762000" y="2000250"/>
            <a:chExt cx="10668000" cy="2857500"/>
          </a:xfrm>
        </p:grpSpPr>
        <p:sp>
          <p:nvSpPr>
            <p:cNvPr id="335" name="Google Shape;335;p11"/>
            <p:cNvSpPr/>
            <p:nvPr/>
          </p:nvSpPr>
          <p:spPr>
            <a:xfrm>
              <a:off x="762000" y="2000250"/>
              <a:ext cx="10668000" cy="2857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1"/>
            <p:cNvSpPr txBox="1"/>
            <p:nvPr/>
          </p:nvSpPr>
          <p:spPr>
            <a:xfrm>
              <a:off x="1143000" y="228600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穩定的磁場沒有能量；</a:t>
              </a:r>
              <a:endParaRPr b="0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19BBD4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變化的瞬間，電流跳出。</a:t>
              </a:r>
              <a:endParaRPr b="0" sz="2800">
                <a:solidFill>
                  <a:srgbClr val="19BBD4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37" name="Google Shape;337;p11"/>
            <p:cNvSpPr txBox="1"/>
            <p:nvPr/>
          </p:nvSpPr>
          <p:spPr>
            <a:xfrm>
              <a:off x="1143000" y="3524250"/>
              <a:ext cx="4762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• 電磁感應：現代電力系統基石</a:t>
              </a:r>
              <a:endParaRPr b="1" sz="14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• 動態捕捉：從靜態數據轉向趨勢</a:t>
              </a:r>
              <a:endParaRPr b="1" sz="14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• 預判警報：辨識變化中的早期訊號</a:t>
              </a:r>
              <a:endParaRPr b="1" sz="14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338" name="Google Shape;338;p11"/>
            <p:cNvGrpSpPr/>
            <p:nvPr/>
          </p:nvGrpSpPr>
          <p:grpSpPr>
            <a:xfrm>
              <a:off x="6858000" y="2286000"/>
              <a:ext cx="3810000" cy="2286000"/>
              <a:chOff x="6858000" y="2286000"/>
              <a:chExt cx="3810000" cy="2286000"/>
            </a:xfrm>
          </p:grpSpPr>
          <p:sp>
            <p:nvSpPr>
              <p:cNvPr id="339" name="Google Shape;339;p11"/>
              <p:cNvSpPr/>
              <p:nvPr/>
            </p:nvSpPr>
            <p:spPr>
              <a:xfrm>
                <a:off x="6858000" y="2286000"/>
                <a:ext cx="3810000" cy="2286000"/>
              </a:xfrm>
              <a:prstGeom prst="roundRect">
                <a:avLst>
                  <a:gd fmla="val 6250" name="adj"/>
                </a:avLst>
              </a:prstGeom>
              <a:solidFill>
                <a:srgbClr val="F6FAFF"/>
              </a:solidFill>
              <a:ln cap="flat" cmpd="sng" w="9525">
                <a:solidFill>
                  <a:srgbClr val="E9EE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40" name="Google Shape;340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215188" y="2962275"/>
                <a:ext cx="1928700" cy="485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1" name="Google Shape;341;p11"/>
              <p:cNvSpPr/>
              <p:nvPr/>
            </p:nvSpPr>
            <p:spPr>
              <a:xfrm>
                <a:off x="9429750" y="2381250"/>
                <a:ext cx="190500" cy="190500"/>
              </a:xfrm>
              <a:prstGeom prst="ellipse">
                <a:avLst/>
              </a:prstGeom>
              <a:solidFill>
                <a:srgbClr val="19BB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1"/>
              <p:cNvSpPr txBox="1"/>
              <p:nvPr/>
            </p:nvSpPr>
            <p:spPr>
              <a:xfrm>
                <a:off x="6858000" y="3619500"/>
                <a:ext cx="381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0B4FB3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指針跳動</a:t>
                </a:r>
                <a:endParaRPr b="0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</p:grpSp>
      </p:grpSp>
      <p:grpSp>
        <p:nvGrpSpPr>
          <p:cNvPr id="343" name="Google Shape;343;p11"/>
          <p:cNvGrpSpPr/>
          <p:nvPr/>
        </p:nvGrpSpPr>
        <p:grpSpPr>
          <a:xfrm>
            <a:off x="762000" y="5143500"/>
            <a:ext cx="10668000" cy="666900"/>
            <a:chOff x="762000" y="5143500"/>
            <a:chExt cx="10668000" cy="666900"/>
          </a:xfrm>
        </p:grpSpPr>
        <p:sp>
          <p:nvSpPr>
            <p:cNvPr id="344" name="Google Shape;344;p11"/>
            <p:cNvSpPr/>
            <p:nvPr/>
          </p:nvSpPr>
          <p:spPr>
            <a:xfrm>
              <a:off x="762000" y="5143500"/>
              <a:ext cx="10668000" cy="666900"/>
            </a:xfrm>
            <a:prstGeom prst="roundRect">
              <a:avLst>
                <a:gd fmla="val 50000" name="adj"/>
              </a:avLst>
            </a:prstGeom>
            <a:solidFill>
              <a:srgbClr val="073B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1"/>
            <p:cNvSpPr txBox="1"/>
            <p:nvPr/>
          </p:nvSpPr>
          <p:spPr>
            <a:xfrm>
              <a:off x="1047750" y="5143500"/>
              <a:ext cx="10096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科學訓練我們：不要只看狀態，要看</a:t>
              </a:r>
              <a:r>
                <a:rPr b="1" lang="en-US" sz="2200">
                  <a:solidFill>
                    <a:srgbClr val="19BBD4"/>
                  </a:solidFill>
                  <a:latin typeface="Noto Sans"/>
                  <a:ea typeface="Noto Sans"/>
                  <a:cs typeface="Noto Sans"/>
                  <a:sym typeface="Noto Sans"/>
                </a:rPr>
                <a:t>變化</a:t>
              </a:r>
              <a:r>
                <a:rPr b="1" lang="en-US" sz="22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。</a:t>
              </a:r>
              <a:endParaRPr b="1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"/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8572500" y="-2095500"/>
            <a:ext cx="5715000" cy="5715000"/>
          </a:xfrm>
          <a:prstGeom prst="ellipse">
            <a:avLst/>
          </a:prstGeom>
          <a:solidFill>
            <a:srgbClr val="2D76D6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-476250" y="-1047750"/>
            <a:ext cx="2857500" cy="28575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762000" y="428625"/>
            <a:ext cx="10668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在內容經營裡，指針也會跳動</a:t>
            </a:r>
            <a:endParaRPr b="0" sz="360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762000" y="1047750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rPr>
              <a:t>流量不是答案，變化才是訊號。</a:t>
            </a:r>
            <a:endParaRPr b="1" sz="1800">
              <a:solidFill>
                <a:srgbClr val="B8C5D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356" name="Google Shape;356;p12"/>
          <p:cNvGrpSpPr/>
          <p:nvPr/>
        </p:nvGrpSpPr>
        <p:grpSpPr>
          <a:xfrm>
            <a:off x="762000" y="2000250"/>
            <a:ext cx="3429000" cy="2667000"/>
            <a:chOff x="762000" y="2000250"/>
            <a:chExt cx="3429000" cy="2667000"/>
          </a:xfrm>
        </p:grpSpPr>
        <p:sp>
          <p:nvSpPr>
            <p:cNvPr id="357" name="Google Shape;357;p12"/>
            <p:cNvSpPr/>
            <p:nvPr/>
          </p:nvSpPr>
          <p:spPr>
            <a:xfrm>
              <a:off x="762000" y="2000250"/>
              <a:ext cx="3429000" cy="26670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2"/>
            <p:cNvSpPr txBox="1"/>
            <p:nvPr/>
          </p:nvSpPr>
          <p:spPr>
            <a:xfrm>
              <a:off x="952500" y="224917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0B4FB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trending_down</a:t>
              </a:r>
              <a:endParaRPr sz="3700">
                <a:solidFill>
                  <a:srgbClr val="0B4FB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9" name="Google Shape;359;p12"/>
            <p:cNvSpPr txBox="1"/>
            <p:nvPr/>
          </p:nvSpPr>
          <p:spPr>
            <a:xfrm>
              <a:off x="952500" y="28098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觀看時間下降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60" name="Google Shape;360;p12"/>
            <p:cNvSpPr txBox="1"/>
            <p:nvPr/>
          </p:nvSpPr>
          <p:spPr>
            <a:xfrm>
              <a:off x="952500" y="3381375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是</a:t>
              </a:r>
              <a:r>
                <a:rPr b="1" lang="en-US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觀眾</a:t>
              </a:r>
              <a: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不喜歡，</a:t>
              </a:r>
              <a:b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b="1" lang="en-US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還</a:t>
              </a:r>
              <a: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是卡在理解成本</a:t>
              </a:r>
              <a:r>
                <a:rPr b="1" lang="en-US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？</a:t>
              </a:r>
              <a:endParaRPr b="1" sz="14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361" name="Google Shape;361;p12"/>
          <p:cNvGrpSpPr/>
          <p:nvPr/>
        </p:nvGrpSpPr>
        <p:grpSpPr>
          <a:xfrm>
            <a:off x="4381500" y="2000250"/>
            <a:ext cx="3429000" cy="2667000"/>
            <a:chOff x="4381500" y="2000250"/>
            <a:chExt cx="3429000" cy="2667000"/>
          </a:xfrm>
        </p:grpSpPr>
        <p:sp>
          <p:nvSpPr>
            <p:cNvPr id="362" name="Google Shape;362;p12"/>
            <p:cNvSpPr/>
            <p:nvPr/>
          </p:nvSpPr>
          <p:spPr>
            <a:xfrm>
              <a:off x="4381500" y="2000250"/>
              <a:ext cx="3429000" cy="2667000"/>
            </a:xfrm>
            <a:prstGeom prst="roundRect">
              <a:avLst>
                <a:gd fmla="val 7142" name="adj"/>
              </a:avLst>
            </a:prstGeom>
            <a:solidFill>
              <a:srgbClr val="EAF3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2"/>
            <p:cNvSpPr txBox="1"/>
            <p:nvPr/>
          </p:nvSpPr>
          <p:spPr>
            <a:xfrm>
              <a:off x="4572000" y="224917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0B4FB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3700">
                <a:solidFill>
                  <a:srgbClr val="0B4FB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4" name="Google Shape;364;p12"/>
            <p:cNvSpPr txBox="1"/>
            <p:nvPr/>
          </p:nvSpPr>
          <p:spPr>
            <a:xfrm>
              <a:off x="4572000" y="28098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留言問題集中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65" name="Google Shape;365;p12"/>
            <p:cNvSpPr txBox="1"/>
            <p:nvPr/>
          </p:nvSpPr>
          <p:spPr>
            <a:xfrm>
              <a:off x="4572000" y="3381375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是</a:t>
              </a:r>
              <a: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雜訊</a:t>
              </a:r>
              <a:r>
                <a:rPr b="1" lang="en-US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，</a:t>
              </a:r>
              <a:endParaRPr b="1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還</a:t>
              </a:r>
              <a: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是下一支內容的題目</a:t>
              </a:r>
              <a:r>
                <a:rPr b="1" lang="en-US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？</a:t>
              </a:r>
              <a:endParaRPr b="1" sz="14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366" name="Google Shape;366;p12"/>
          <p:cNvGrpSpPr/>
          <p:nvPr/>
        </p:nvGrpSpPr>
        <p:grpSpPr>
          <a:xfrm>
            <a:off x="8001000" y="2000250"/>
            <a:ext cx="3429000" cy="2667000"/>
            <a:chOff x="8001000" y="2000250"/>
            <a:chExt cx="3429000" cy="2667000"/>
          </a:xfrm>
        </p:grpSpPr>
        <p:sp>
          <p:nvSpPr>
            <p:cNvPr id="367" name="Google Shape;367;p12"/>
            <p:cNvSpPr/>
            <p:nvPr/>
          </p:nvSpPr>
          <p:spPr>
            <a:xfrm>
              <a:off x="8001000" y="2000250"/>
              <a:ext cx="3429000" cy="26670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2"/>
            <p:cNvSpPr txBox="1"/>
            <p:nvPr/>
          </p:nvSpPr>
          <p:spPr>
            <a:xfrm>
              <a:off x="8191500" y="224917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0B4FB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videocam</a:t>
              </a:r>
              <a:endParaRPr sz="3700">
                <a:solidFill>
                  <a:srgbClr val="0B4FB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9" name="Google Shape;369;p12"/>
            <p:cNvSpPr txBox="1"/>
            <p:nvPr/>
          </p:nvSpPr>
          <p:spPr>
            <a:xfrm>
              <a:off x="8191500" y="28098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短片帶動搜尋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70" name="Google Shape;370;p12"/>
            <p:cNvSpPr txBox="1"/>
            <p:nvPr/>
          </p:nvSpPr>
          <p:spPr>
            <a:xfrm>
              <a:off x="8191500" y="3381375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短影音</a:t>
              </a:r>
              <a:r>
                <a:rPr b="1" lang="en-US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是風潮</a:t>
              </a:r>
              <a: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，</a:t>
              </a:r>
              <a:b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b="1" lang="en-US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還</a:t>
              </a:r>
              <a: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是通往深內容的入口</a:t>
              </a:r>
              <a:r>
                <a:rPr b="1" lang="en-US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？</a:t>
              </a:r>
              <a:endParaRPr b="1" sz="14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371" name="Google Shape;371;p12"/>
          <p:cNvSpPr/>
          <p:nvPr/>
        </p:nvSpPr>
        <p:spPr>
          <a:xfrm>
            <a:off x="762000" y="5143500"/>
            <a:ext cx="10668000" cy="6669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1047750" y="5143500"/>
            <a:ext cx="10096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科學方法不只在實驗室，也能用在內容、組織與決策。</a:t>
            </a:r>
            <a:endParaRPr b="1" sz="22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"/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3"/>
          <p:cNvSpPr/>
          <p:nvPr/>
        </p:nvSpPr>
        <p:spPr>
          <a:xfrm>
            <a:off x="8572500" y="-2095500"/>
            <a:ext cx="5715000" cy="5715000"/>
          </a:xfrm>
          <a:prstGeom prst="ellipse">
            <a:avLst/>
          </a:prstGeom>
          <a:solidFill>
            <a:srgbClr val="2D76D6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137160" y="5715000"/>
            <a:ext cx="11914500" cy="932700"/>
          </a:xfrm>
          <a:prstGeom prst="roundRect">
            <a:avLst>
              <a:gd fmla="val 7843" name="adj"/>
            </a:avLst>
          </a:prstGeom>
          <a:solidFill>
            <a:srgbClr val="FFFFFF"/>
          </a:solidFill>
          <a:ln cap="flat" cmpd="sng" w="12700">
            <a:solidFill>
              <a:srgbClr val="E9EEF8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-476250" y="-1047750"/>
            <a:ext cx="2857500" cy="28575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762000" y="428625"/>
            <a:ext cx="10668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1847｜塞麥爾維斯反射</a:t>
            </a:r>
            <a:endParaRPr b="0" i="0" sz="360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762000" y="1047750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rPr>
              <a:t>真相若挑戰權威，會先遇到防禦。</a:t>
            </a:r>
            <a:endParaRPr b="1" i="0" sz="1800">
              <a:solidFill>
                <a:srgbClr val="B8C5D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762000" y="2000250"/>
            <a:ext cx="10668000" cy="285750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9050">
            <a:solidFill>
              <a:srgbClr val="D7E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1143000" y="2286000"/>
            <a:ext cx="4286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產婦死亡率：</a:t>
            </a:r>
            <a:endParaRPr b="0" i="0" sz="28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>
                <a:solidFill>
                  <a:srgbClr val="D94848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18% </a:t>
            </a:r>
            <a:r>
              <a:rPr b="0" i="0" lang="en-US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vs.</a:t>
            </a:r>
            <a:r>
              <a:rPr b="0" i="0" lang="en-US" sz="2800">
                <a:solidFill>
                  <a:srgbClr val="D94848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 </a:t>
            </a:r>
            <a:r>
              <a:rPr b="0" i="0" lang="en-US" sz="2800">
                <a:solidFill>
                  <a:srgbClr val="11A36A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2%</a:t>
            </a:r>
            <a:endParaRPr b="0" i="0" sz="2800">
              <a:solidFill>
                <a:srgbClr val="D94848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1143000" y="3524250"/>
            <a:ext cx="42864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rPr>
              <a:t>• 在 19 世紀醫院中，數據揭示差異</a:t>
            </a:r>
            <a:endParaRPr b="1" i="0" sz="1400">
              <a:solidFill>
                <a:srgbClr val="073B7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rPr>
              <a:t>• 醫學界因專業自尊與制度慣性，拒絕改變</a:t>
            </a:r>
            <a:endParaRPr b="1" i="0" sz="1400">
              <a:solidFill>
                <a:srgbClr val="073B7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387" name="Google Shape;387;p13"/>
          <p:cNvGrpSpPr/>
          <p:nvPr/>
        </p:nvGrpSpPr>
        <p:grpSpPr>
          <a:xfrm>
            <a:off x="6858000" y="2286000"/>
            <a:ext cx="4000500" cy="2286000"/>
            <a:chOff x="6858000" y="2286000"/>
            <a:chExt cx="4000500" cy="2286000"/>
          </a:xfrm>
        </p:grpSpPr>
        <p:sp>
          <p:nvSpPr>
            <p:cNvPr id="388" name="Google Shape;388;p13"/>
            <p:cNvSpPr/>
            <p:nvPr/>
          </p:nvSpPr>
          <p:spPr>
            <a:xfrm>
              <a:off x="6858000" y="2286000"/>
              <a:ext cx="4000500" cy="2286000"/>
            </a:xfrm>
            <a:prstGeom prst="roundRect">
              <a:avLst>
                <a:gd fmla="val 6250" name="adj"/>
              </a:avLst>
            </a:prstGeom>
            <a:solidFill>
              <a:srgbClr val="F6FAFF"/>
            </a:solidFill>
            <a:ln cap="flat" cmpd="sng" w="9525">
              <a:solidFill>
                <a:srgbClr val="E9EE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7524750" y="2571750"/>
              <a:ext cx="571500" cy="1428900"/>
            </a:xfrm>
            <a:prstGeom prst="roundRect">
              <a:avLst>
                <a:gd fmla="val 6666" name="adj"/>
              </a:avLst>
            </a:prstGeom>
            <a:solidFill>
              <a:srgbClr val="F7B7B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9239250" y="3842385"/>
              <a:ext cx="571500" cy="158100"/>
            </a:xfrm>
            <a:prstGeom prst="roundRect">
              <a:avLst>
                <a:gd fmla="val 24096" name="adj"/>
              </a:avLst>
            </a:prstGeom>
            <a:solidFill>
              <a:srgbClr val="B6E6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1" name="Google Shape;391;p13"/>
            <p:cNvCxnSpPr/>
            <p:nvPr/>
          </p:nvCxnSpPr>
          <p:spPr>
            <a:xfrm>
              <a:off x="7334250" y="4000500"/>
              <a:ext cx="2667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73B7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2" name="Google Shape;392;p13"/>
            <p:cNvSpPr/>
            <p:nvPr/>
          </p:nvSpPr>
          <p:spPr>
            <a:xfrm>
              <a:off x="7239000" y="4048125"/>
              <a:ext cx="1143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專業醫生</a:t>
              </a:r>
              <a:endParaRPr b="1" sz="12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94848"/>
                  </a:solidFill>
                  <a:latin typeface="Noto Sans"/>
                  <a:ea typeface="Noto Sans"/>
                  <a:cs typeface="Noto Sans"/>
                  <a:sym typeface="Noto Sans"/>
                </a:rPr>
                <a:t>18%</a:t>
              </a:r>
              <a:endParaRPr b="1" sz="1200">
                <a:solidFill>
                  <a:srgbClr val="D94848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8953500" y="4048125"/>
              <a:ext cx="1143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助產士</a:t>
              </a:r>
              <a:endParaRPr b="1" sz="12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1A36A"/>
                  </a:solidFill>
                  <a:latin typeface="Noto Sans"/>
                  <a:ea typeface="Noto Sans"/>
                  <a:cs typeface="Noto Sans"/>
                  <a:sym typeface="Noto Sans"/>
                </a:rPr>
                <a:t>2%</a:t>
              </a:r>
              <a:endParaRPr b="1" sz="1200">
                <a:solidFill>
                  <a:srgbClr val="11A36A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394" name="Google Shape;394;p13"/>
          <p:cNvSpPr/>
          <p:nvPr/>
        </p:nvSpPr>
        <p:spPr>
          <a:xfrm>
            <a:off x="762000" y="5143500"/>
            <a:ext cx="10668000" cy="6669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1047750" y="5143500"/>
            <a:ext cx="10096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新證據不會自動被接受；它會先撞上身分、權威與自尊。</a:t>
            </a:r>
            <a:endParaRPr b="1" i="0" sz="22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4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8572500" y="-2095500"/>
            <a:ext cx="5715000" cy="5715000"/>
          </a:xfrm>
          <a:prstGeom prst="ellipse">
            <a:avLst/>
          </a:prstGeom>
          <a:solidFill>
            <a:srgbClr val="2D76D6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4"/>
          <p:cNvSpPr/>
          <p:nvPr/>
        </p:nvSpPr>
        <p:spPr>
          <a:xfrm>
            <a:off x="-476250" y="-1047750"/>
            <a:ext cx="2857500" cy="28575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762000" y="381000"/>
            <a:ext cx="10668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逆火效應：事實不一定立刻改變信念</a:t>
            </a:r>
            <a:endParaRPr b="0" sz="360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762000" y="1000125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rPr>
              <a:t>當事實挑戰身分，大腦常先防禦，而不是更新。</a:t>
            </a:r>
            <a:endParaRPr b="1" sz="1800">
              <a:solidFill>
                <a:srgbClr val="B8C5D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406" name="Google Shape;406;p14"/>
          <p:cNvGrpSpPr/>
          <p:nvPr/>
        </p:nvGrpSpPr>
        <p:grpSpPr>
          <a:xfrm>
            <a:off x="1143000" y="2095500"/>
            <a:ext cx="9906000" cy="1905000"/>
            <a:chOff x="1143000" y="2095500"/>
            <a:chExt cx="9906000" cy="1905000"/>
          </a:xfrm>
        </p:grpSpPr>
        <p:sp>
          <p:nvSpPr>
            <p:cNvPr id="407" name="Google Shape;407;p14"/>
            <p:cNvSpPr/>
            <p:nvPr/>
          </p:nvSpPr>
          <p:spPr>
            <a:xfrm>
              <a:off x="1143000" y="2095500"/>
              <a:ext cx="2857500" cy="1905000"/>
            </a:xfrm>
            <a:prstGeom prst="roundRect">
              <a:avLst>
                <a:gd fmla="val 10000" name="adj"/>
              </a:avLst>
            </a:prstGeom>
            <a:solidFill>
              <a:srgbClr val="F0F7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4"/>
            <p:cNvSpPr txBox="1"/>
            <p:nvPr/>
          </p:nvSpPr>
          <p:spPr>
            <a:xfrm>
              <a:off x="1143000" y="2095500"/>
              <a:ext cx="2857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FACT</a:t>
              </a:r>
              <a:endParaRPr b="0" sz="24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事實</a:t>
              </a:r>
              <a:endParaRPr b="1" sz="18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409" name="Google Shape;409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1000" y="2914650"/>
              <a:ext cx="1714500" cy="26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14"/>
            <p:cNvSpPr/>
            <p:nvPr/>
          </p:nvSpPr>
          <p:spPr>
            <a:xfrm>
              <a:off x="5524500" y="2476500"/>
              <a:ext cx="1143000" cy="1143000"/>
            </a:xfrm>
            <a:prstGeom prst="ellipse">
              <a:avLst/>
            </a:prstGeom>
            <a:solidFill>
              <a:srgbClr val="FFF2F2"/>
            </a:solidFill>
            <a:ln cap="flat" cmpd="sng" w="19050">
              <a:solidFill>
                <a:srgbClr val="F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4"/>
            <p:cNvSpPr txBox="1"/>
            <p:nvPr/>
          </p:nvSpPr>
          <p:spPr>
            <a:xfrm>
              <a:off x="5524500" y="2534920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D9484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</a:t>
              </a:r>
              <a:endParaRPr sz="4000">
                <a:solidFill>
                  <a:srgbClr val="D9484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12" name="Google Shape;412;p14"/>
            <p:cNvSpPr/>
            <p:nvPr/>
          </p:nvSpPr>
          <p:spPr>
            <a:xfrm>
              <a:off x="8191500" y="2095500"/>
              <a:ext cx="2857500" cy="1905000"/>
            </a:xfrm>
            <a:prstGeom prst="roundRect">
              <a:avLst>
                <a:gd fmla="val 10000" name="adj"/>
              </a:avLst>
            </a:prstGeom>
            <a:solidFill>
              <a:srgbClr val="FFF9E6"/>
            </a:solidFill>
            <a:ln cap="flat" cmpd="sng" w="19050">
              <a:solidFill>
                <a:srgbClr val="F8DB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4"/>
            <p:cNvSpPr txBox="1"/>
            <p:nvPr/>
          </p:nvSpPr>
          <p:spPr>
            <a:xfrm>
              <a:off x="8191500" y="2095500"/>
              <a:ext cx="2857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9E7E00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BELIEF</a:t>
              </a:r>
              <a:endParaRPr b="0" sz="2400">
                <a:solidFill>
                  <a:srgbClr val="9E7E00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6B5600"/>
                  </a:solidFill>
                  <a:latin typeface="Noto Sans"/>
                  <a:ea typeface="Noto Sans"/>
                  <a:cs typeface="Noto Sans"/>
                  <a:sym typeface="Noto Sans"/>
                </a:rPr>
                <a:t>信念</a:t>
              </a:r>
              <a:endParaRPr b="1" sz="1800">
                <a:solidFill>
                  <a:srgbClr val="6B5600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414" name="Google Shape;414;p14"/>
          <p:cNvSpPr/>
          <p:nvPr/>
        </p:nvSpPr>
        <p:spPr>
          <a:xfrm>
            <a:off x="4667250" y="3714750"/>
            <a:ext cx="285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94848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直接丟數據</a:t>
            </a:r>
            <a:endParaRPr b="0" sz="1600">
              <a:solidFill>
                <a:srgbClr val="D94848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94848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可能更抗拒</a:t>
            </a:r>
            <a:endParaRPr b="0" sz="1600">
              <a:solidFill>
                <a:srgbClr val="D94848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762000" y="4953000"/>
            <a:ext cx="10668000" cy="6669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1047750" y="4953000"/>
            <a:ext cx="10096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科學傳播</a:t>
            </a:r>
            <a:r>
              <a:rPr b="1"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別</a:t>
            </a:r>
            <a:r>
              <a:rPr b="1"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只靠糾正；</a:t>
            </a:r>
            <a:r>
              <a:rPr b="1"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得</a:t>
            </a:r>
            <a:r>
              <a:rPr b="1"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先建立信任，讓事實有機會被</a:t>
            </a:r>
            <a:r>
              <a:rPr b="1"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討論</a:t>
            </a:r>
            <a:r>
              <a:rPr b="1"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b="1" sz="20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5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8572500" y="-2095500"/>
            <a:ext cx="5715000" cy="5715000"/>
          </a:xfrm>
          <a:prstGeom prst="ellipse">
            <a:avLst/>
          </a:prstGeom>
          <a:solidFill>
            <a:srgbClr val="2D76D6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-476250" y="-1047750"/>
            <a:ext cx="2857500" cy="28575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5" name="Google Shape;425;p15"/>
          <p:cNvGrpSpPr/>
          <p:nvPr/>
        </p:nvGrpSpPr>
        <p:grpSpPr>
          <a:xfrm>
            <a:off x="762000" y="428625"/>
            <a:ext cx="10668000" cy="1047750"/>
            <a:chOff x="762000" y="428625"/>
            <a:chExt cx="10668000" cy="1047750"/>
          </a:xfrm>
        </p:grpSpPr>
        <p:sp>
          <p:nvSpPr>
            <p:cNvPr id="426" name="Google Shape;426;p15"/>
            <p:cNvSpPr txBox="1"/>
            <p:nvPr/>
          </p:nvSpPr>
          <p:spPr>
            <a:xfrm>
              <a:off x="762000" y="428625"/>
              <a:ext cx="1066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技術的正確性只</a:t>
              </a:r>
              <a:r>
                <a:rPr lang="en-US" sz="36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占</a:t>
              </a:r>
              <a:r>
                <a:rPr b="0" lang="en-US" sz="36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一半</a:t>
              </a:r>
              <a:endParaRPr b="0" sz="36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427" name="Google Shape;427;p15"/>
            <p:cNvSpPr txBox="1"/>
            <p:nvPr/>
          </p:nvSpPr>
          <p:spPr>
            <a:xfrm>
              <a:off x="762000" y="1095375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B8C5D8"/>
                  </a:solidFill>
                  <a:latin typeface="Noto Sans"/>
                  <a:ea typeface="Noto Sans"/>
                  <a:cs typeface="Noto Sans"/>
                  <a:sym typeface="Noto Sans"/>
                </a:rPr>
                <a:t>另一半，是理解政治與人性的溝通能力。</a:t>
              </a:r>
              <a:endParaRPr b="1" sz="18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428" name="Google Shape;428;p15"/>
          <p:cNvGrpSpPr/>
          <p:nvPr/>
        </p:nvGrpSpPr>
        <p:grpSpPr>
          <a:xfrm>
            <a:off x="762000" y="2190750"/>
            <a:ext cx="10668000" cy="2476500"/>
            <a:chOff x="762000" y="2190750"/>
            <a:chExt cx="10668000" cy="2476500"/>
          </a:xfrm>
        </p:grpSpPr>
        <p:sp>
          <p:nvSpPr>
            <p:cNvPr id="429" name="Google Shape;429;p15"/>
            <p:cNvSpPr/>
            <p:nvPr/>
          </p:nvSpPr>
          <p:spPr>
            <a:xfrm>
              <a:off x="762000" y="2190750"/>
              <a:ext cx="10668000" cy="1143000"/>
            </a:xfrm>
            <a:prstGeom prst="roundRect">
              <a:avLst>
                <a:gd fmla="val 12500" name="adj"/>
              </a:avLst>
            </a:prstGeom>
            <a:solidFill>
              <a:srgbClr val="FFF2F2"/>
            </a:solidFill>
            <a:ln cap="flat" cmpd="sng" w="19050">
              <a:solidFill>
                <a:srgbClr val="F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5"/>
            <p:cNvSpPr txBox="1"/>
            <p:nvPr/>
          </p:nvSpPr>
          <p:spPr>
            <a:xfrm>
              <a:off x="1047750" y="2190750"/>
              <a:ext cx="10096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D94848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真相被拒絕 </a:t>
              </a:r>
              <a:r>
                <a:rPr b="0" lang="en-US" sz="2000">
                  <a:solidFill>
                    <a:srgbClr val="B8C5D8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➔</a:t>
              </a:r>
              <a:r>
                <a:rPr b="0" lang="en-US" sz="2400">
                  <a:solidFill>
                    <a:srgbClr val="D94848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 啟動防禦機制 </a:t>
              </a:r>
              <a:r>
                <a:rPr b="0" lang="en-US" sz="2000">
                  <a:solidFill>
                    <a:srgbClr val="B8C5D8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➔</a:t>
              </a:r>
              <a:r>
                <a:rPr b="0" lang="en-US" sz="2400">
                  <a:solidFill>
                    <a:srgbClr val="D94848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 改善失敗</a:t>
              </a:r>
              <a:endParaRPr b="0" sz="2400">
                <a:solidFill>
                  <a:srgbClr val="D94848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762000" y="3524250"/>
              <a:ext cx="10668000" cy="1143000"/>
            </a:xfrm>
            <a:prstGeom prst="roundRect">
              <a:avLst>
                <a:gd fmla="val 12500" name="adj"/>
              </a:avLst>
            </a:prstGeom>
            <a:solidFill>
              <a:srgbClr val="EEF9F4"/>
            </a:solidFill>
            <a:ln cap="flat" cmpd="sng" w="19050">
              <a:solidFill>
                <a:srgbClr val="B6E6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5"/>
            <p:cNvSpPr txBox="1"/>
            <p:nvPr/>
          </p:nvSpPr>
          <p:spPr>
            <a:xfrm>
              <a:off x="1047750" y="3524250"/>
              <a:ext cx="10096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11A36A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共情溝通 </a:t>
              </a:r>
              <a:r>
                <a:rPr b="0" lang="en-US" sz="2000">
                  <a:solidFill>
                    <a:srgbClr val="B8C5D8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➔</a:t>
              </a:r>
              <a:r>
                <a:rPr b="0" lang="en-US" sz="2400">
                  <a:solidFill>
                    <a:srgbClr val="11A36A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 降低防禦 </a:t>
              </a:r>
              <a:r>
                <a:rPr b="0" lang="en-US" sz="2000">
                  <a:solidFill>
                    <a:srgbClr val="B8C5D8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➔</a:t>
              </a:r>
              <a:r>
                <a:rPr b="0" lang="en-US" sz="2400">
                  <a:solidFill>
                    <a:srgbClr val="11A36A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 系統改善</a:t>
              </a:r>
              <a:endParaRPr b="0" sz="2400">
                <a:solidFill>
                  <a:srgbClr val="11A36A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</p:grpSp>
      <p:grpSp>
        <p:nvGrpSpPr>
          <p:cNvPr id="433" name="Google Shape;433;p15"/>
          <p:cNvGrpSpPr/>
          <p:nvPr/>
        </p:nvGrpSpPr>
        <p:grpSpPr>
          <a:xfrm>
            <a:off x="762000" y="4953000"/>
            <a:ext cx="10668000" cy="666900"/>
            <a:chOff x="762000" y="4953000"/>
            <a:chExt cx="10668000" cy="666900"/>
          </a:xfrm>
        </p:grpSpPr>
        <p:sp>
          <p:nvSpPr>
            <p:cNvPr id="434" name="Google Shape;434;p15"/>
            <p:cNvSpPr/>
            <p:nvPr/>
          </p:nvSpPr>
          <p:spPr>
            <a:xfrm>
              <a:off x="762000" y="4953000"/>
              <a:ext cx="10668000" cy="666900"/>
            </a:xfrm>
            <a:prstGeom prst="roundRect">
              <a:avLst>
                <a:gd fmla="val 50000" name="adj"/>
              </a:avLst>
            </a:prstGeom>
            <a:solidFill>
              <a:srgbClr val="073B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5"/>
            <p:cNvSpPr txBox="1"/>
            <p:nvPr/>
          </p:nvSpPr>
          <p:spPr>
            <a:xfrm>
              <a:off x="1047750" y="4953000"/>
              <a:ext cx="10096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心態轉變：把「指出錯誤」改成「協助對方成功」。</a:t>
              </a:r>
              <a:endParaRPr b="1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6"/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8572500" y="-2095500"/>
            <a:ext cx="5715000" cy="5715000"/>
          </a:xfrm>
          <a:prstGeom prst="ellipse">
            <a:avLst/>
          </a:prstGeom>
          <a:solidFill>
            <a:srgbClr val="2D76D6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-476250" y="-1047750"/>
            <a:ext cx="2857500" cy="28575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762000" y="381000"/>
            <a:ext cx="10668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知識型影片的五大類</a:t>
            </a:r>
            <a:endParaRPr b="0" sz="360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762000" y="1000125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rPr>
              <a:t>用固定框架降低理解成本，讓觀眾知道自己正在看什麼。</a:t>
            </a:r>
            <a:endParaRPr b="1" sz="1800">
              <a:solidFill>
                <a:srgbClr val="B8C5D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446" name="Google Shape;446;p16"/>
          <p:cNvGrpSpPr/>
          <p:nvPr/>
        </p:nvGrpSpPr>
        <p:grpSpPr>
          <a:xfrm>
            <a:off x="762000" y="2000250"/>
            <a:ext cx="2000100" cy="2286000"/>
            <a:chOff x="762000" y="2000250"/>
            <a:chExt cx="2000100" cy="2286000"/>
          </a:xfrm>
        </p:grpSpPr>
        <p:sp>
          <p:nvSpPr>
            <p:cNvPr id="447" name="Google Shape;447;p16"/>
            <p:cNvSpPr/>
            <p:nvPr/>
          </p:nvSpPr>
          <p:spPr>
            <a:xfrm>
              <a:off x="762000" y="2000250"/>
              <a:ext cx="2000100" cy="2286000"/>
            </a:xfrm>
            <a:prstGeom prst="roundRect">
              <a:avLst>
                <a:gd fmla="val 9523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6"/>
            <p:cNvSpPr txBox="1"/>
            <p:nvPr/>
          </p:nvSpPr>
          <p:spPr>
            <a:xfrm>
              <a:off x="762000" y="2000250"/>
              <a:ext cx="20001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B4FB3"/>
                  </a:solidFill>
                  <a:highlight>
                    <a:srgbClr val="EAF3FF"/>
                  </a:highlight>
                  <a:latin typeface="Noto Sans Black"/>
                  <a:ea typeface="Noto Sans Black"/>
                  <a:cs typeface="Noto Sans Black"/>
                  <a:sym typeface="Noto Sans Black"/>
                </a:rPr>
                <a:t>教學</a:t>
              </a:r>
              <a:endParaRPr b="0" sz="1600">
                <a:solidFill>
                  <a:srgbClr val="0B4FB3"/>
                </a:solidFill>
                <a:highlight>
                  <a:srgbClr val="EAF3FF"/>
                </a:highlight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這是怎麼</a:t>
              </a:r>
              <a:br>
                <a:rPr b="1" lang="en-US" sz="18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b="1" lang="en-US" sz="18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做到的</a:t>
              </a:r>
              <a:endParaRPr b="1" sz="18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449" name="Google Shape;449;p16"/>
          <p:cNvGrpSpPr/>
          <p:nvPr/>
        </p:nvGrpSpPr>
        <p:grpSpPr>
          <a:xfrm>
            <a:off x="3000375" y="2000250"/>
            <a:ext cx="2000100" cy="2286000"/>
            <a:chOff x="3000375" y="2000250"/>
            <a:chExt cx="2000100" cy="2286000"/>
          </a:xfrm>
        </p:grpSpPr>
        <p:sp>
          <p:nvSpPr>
            <p:cNvPr id="450" name="Google Shape;450;p16"/>
            <p:cNvSpPr/>
            <p:nvPr/>
          </p:nvSpPr>
          <p:spPr>
            <a:xfrm>
              <a:off x="3000375" y="2000250"/>
              <a:ext cx="2000100" cy="2286000"/>
            </a:xfrm>
            <a:prstGeom prst="roundRect">
              <a:avLst>
                <a:gd fmla="val 9523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6"/>
            <p:cNvSpPr txBox="1"/>
            <p:nvPr/>
          </p:nvSpPr>
          <p:spPr>
            <a:xfrm>
              <a:off x="3000375" y="2000250"/>
              <a:ext cx="20001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B4FB3"/>
                  </a:solidFill>
                  <a:highlight>
                    <a:srgbClr val="EAF3FF"/>
                  </a:highlight>
                  <a:latin typeface="Noto Sans Black"/>
                  <a:ea typeface="Noto Sans Black"/>
                  <a:cs typeface="Noto Sans Black"/>
                  <a:sym typeface="Noto Sans Black"/>
                </a:rPr>
                <a:t>新知</a:t>
              </a:r>
              <a:endParaRPr b="0" sz="1600">
                <a:solidFill>
                  <a:srgbClr val="0B4FB3"/>
                </a:solidFill>
                <a:highlight>
                  <a:srgbClr val="EAF3FF"/>
                </a:highlight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萬眾矚目！</a:t>
              </a:r>
              <a:br>
                <a:rPr b="1" lang="en-US" sz="18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b="1" lang="en-US" sz="18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沒想到</a:t>
              </a:r>
              <a:endParaRPr b="1" sz="18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452" name="Google Shape;452;p16"/>
          <p:cNvGrpSpPr/>
          <p:nvPr/>
        </p:nvGrpSpPr>
        <p:grpSpPr>
          <a:xfrm>
            <a:off x="5238750" y="1905000"/>
            <a:ext cx="2000100" cy="2286000"/>
            <a:chOff x="5238750" y="1905000"/>
            <a:chExt cx="2000100" cy="2286000"/>
          </a:xfrm>
        </p:grpSpPr>
        <p:sp>
          <p:nvSpPr>
            <p:cNvPr id="453" name="Google Shape;453;p16"/>
            <p:cNvSpPr/>
            <p:nvPr/>
          </p:nvSpPr>
          <p:spPr>
            <a:xfrm>
              <a:off x="5238750" y="1905000"/>
              <a:ext cx="2000100" cy="2286000"/>
            </a:xfrm>
            <a:prstGeom prst="roundRect">
              <a:avLst>
                <a:gd fmla="val 9523" name="adj"/>
              </a:avLst>
            </a:prstGeom>
            <a:solidFill>
              <a:srgbClr val="FFFFFF"/>
            </a:solidFill>
            <a:ln cap="flat" cmpd="sng" w="38100">
              <a:solidFill>
                <a:srgbClr val="11A3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6"/>
            <p:cNvSpPr txBox="1"/>
            <p:nvPr/>
          </p:nvSpPr>
          <p:spPr>
            <a:xfrm>
              <a:off x="5238750" y="1905000"/>
              <a:ext cx="20001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1A36A"/>
                  </a:solidFill>
                  <a:highlight>
                    <a:srgbClr val="DFF8EA"/>
                  </a:highlight>
                  <a:latin typeface="Noto Sans Black"/>
                  <a:ea typeface="Noto Sans Black"/>
                  <a:cs typeface="Noto Sans Black"/>
                  <a:sym typeface="Noto Sans Black"/>
                </a:rPr>
                <a:t>翻案</a:t>
              </a:r>
              <a:endParaRPr b="0" sz="1600">
                <a:solidFill>
                  <a:srgbClr val="11A36A"/>
                </a:solidFill>
                <a:highlight>
                  <a:srgbClr val="DFF8EA"/>
                </a:highlight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很多人認為，</a:t>
              </a:r>
              <a:br>
                <a:rPr b="1" lang="en-US" sz="18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b="1" lang="en-US" sz="18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但其實…</a:t>
              </a:r>
              <a:endParaRPr b="1" sz="18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455" name="Google Shape;455;p16"/>
          <p:cNvGrpSpPr/>
          <p:nvPr/>
        </p:nvGrpSpPr>
        <p:grpSpPr>
          <a:xfrm>
            <a:off x="7477125" y="2000250"/>
            <a:ext cx="2000100" cy="2286000"/>
            <a:chOff x="7477125" y="2000250"/>
            <a:chExt cx="2000100" cy="2286000"/>
          </a:xfrm>
        </p:grpSpPr>
        <p:sp>
          <p:nvSpPr>
            <p:cNvPr id="456" name="Google Shape;456;p16"/>
            <p:cNvSpPr/>
            <p:nvPr/>
          </p:nvSpPr>
          <p:spPr>
            <a:xfrm>
              <a:off x="7477125" y="2000250"/>
              <a:ext cx="2000100" cy="2286000"/>
            </a:xfrm>
            <a:prstGeom prst="roundRect">
              <a:avLst>
                <a:gd fmla="val 9523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6"/>
            <p:cNvSpPr txBox="1"/>
            <p:nvPr/>
          </p:nvSpPr>
          <p:spPr>
            <a:xfrm>
              <a:off x="7477125" y="2000250"/>
              <a:ext cx="20001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B4FB3"/>
                  </a:solidFill>
                  <a:highlight>
                    <a:srgbClr val="EAF3FF"/>
                  </a:highlight>
                  <a:latin typeface="Noto Sans Black"/>
                  <a:ea typeface="Noto Sans Black"/>
                  <a:cs typeface="Noto Sans Black"/>
                  <a:sym typeface="Noto Sans Black"/>
                </a:rPr>
                <a:t>熱點</a:t>
              </a:r>
              <a:endParaRPr b="0" sz="1600">
                <a:solidFill>
                  <a:srgbClr val="0B4FB3"/>
                </a:solidFill>
                <a:highlight>
                  <a:srgbClr val="EAF3FF"/>
                </a:highlight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關於 XXX</a:t>
              </a:r>
              <a:endParaRPr b="1" sz="18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458" name="Google Shape;458;p16"/>
          <p:cNvGrpSpPr/>
          <p:nvPr/>
        </p:nvGrpSpPr>
        <p:grpSpPr>
          <a:xfrm>
            <a:off x="9715500" y="2000250"/>
            <a:ext cx="2000100" cy="2286000"/>
            <a:chOff x="9715500" y="2000250"/>
            <a:chExt cx="2000100" cy="2286000"/>
          </a:xfrm>
        </p:grpSpPr>
        <p:sp>
          <p:nvSpPr>
            <p:cNvPr id="459" name="Google Shape;459;p16"/>
            <p:cNvSpPr/>
            <p:nvPr/>
          </p:nvSpPr>
          <p:spPr>
            <a:xfrm>
              <a:off x="9715500" y="2000250"/>
              <a:ext cx="2000100" cy="2286000"/>
            </a:xfrm>
            <a:prstGeom prst="roundRect">
              <a:avLst>
                <a:gd fmla="val 9523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6"/>
            <p:cNvSpPr txBox="1"/>
            <p:nvPr/>
          </p:nvSpPr>
          <p:spPr>
            <a:xfrm>
              <a:off x="9715500" y="2000250"/>
              <a:ext cx="20001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B4FB3"/>
                  </a:solidFill>
                  <a:highlight>
                    <a:srgbClr val="EAF3FF"/>
                  </a:highlight>
                  <a:latin typeface="Noto Sans Black"/>
                  <a:ea typeface="Noto Sans Black"/>
                  <a:cs typeface="Noto Sans Black"/>
                  <a:sym typeface="Noto Sans Black"/>
                </a:rPr>
                <a:t>大補帖</a:t>
              </a:r>
              <a:endParaRPr b="0" sz="1600">
                <a:solidFill>
                  <a:srgbClr val="0B4FB3"/>
                </a:solidFill>
                <a:highlight>
                  <a:srgbClr val="EAF3FF"/>
                </a:highlight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…的 N 件事</a:t>
              </a:r>
              <a:endParaRPr b="1" sz="18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461" name="Google Shape;461;p16"/>
          <p:cNvSpPr/>
          <p:nvPr/>
        </p:nvSpPr>
        <p:spPr>
          <a:xfrm>
            <a:off x="762000" y="4476750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73B7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WOW →</a:t>
            </a:r>
            <a:r>
              <a:rPr b="0" lang="en-US" sz="1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 Relevant　　</a:t>
            </a:r>
            <a:r>
              <a:rPr b="0" lang="en-US" sz="1800">
                <a:solidFill>
                  <a:srgbClr val="073B7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WTF →</a:t>
            </a:r>
            <a:r>
              <a:rPr b="0" lang="en-US" sz="1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 Repeat　　</a:t>
            </a:r>
            <a:r>
              <a:rPr b="0" lang="en-US" sz="1800">
                <a:solidFill>
                  <a:srgbClr val="073B7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WHY →</a:t>
            </a:r>
            <a:r>
              <a:rPr b="0" lang="en-US" sz="1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 Reveal</a:t>
            </a:r>
            <a:endParaRPr b="0" sz="18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762000" y="5048250"/>
            <a:ext cx="10668000" cy="5715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1047750" y="5048250"/>
            <a:ext cx="10096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核心目標：建立信任</a:t>
            </a: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與正面觀感</a:t>
            </a: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，讓觀眾產生共鳴與行動力。</a:t>
            </a:r>
            <a:endParaRPr b="1" sz="18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7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solidFill>
            <a:srgbClr val="0B4F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"/>
          <p:cNvSpPr/>
          <p:nvPr/>
        </p:nvSpPr>
        <p:spPr>
          <a:xfrm>
            <a:off x="8572500" y="-2095500"/>
            <a:ext cx="5715000" cy="57150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-476250" y="-104775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2" name="Google Shape;472;p17"/>
          <p:cNvGrpSpPr/>
          <p:nvPr/>
        </p:nvGrpSpPr>
        <p:grpSpPr>
          <a:xfrm>
            <a:off x="762000" y="428625"/>
            <a:ext cx="10668000" cy="1047750"/>
            <a:chOff x="762000" y="428625"/>
            <a:chExt cx="10668000" cy="1047750"/>
          </a:xfrm>
        </p:grpSpPr>
        <p:sp>
          <p:nvSpPr>
            <p:cNvPr id="473" name="Google Shape;473;p17"/>
            <p:cNvSpPr txBox="1"/>
            <p:nvPr/>
          </p:nvSpPr>
          <p:spPr>
            <a:xfrm>
              <a:off x="762000" y="428625"/>
              <a:ext cx="1066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AI 時代，判斷比搜尋更稀缺</a:t>
              </a:r>
              <a:endParaRPr b="0" sz="36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474" name="Google Shape;474;p17"/>
            <p:cNvSpPr txBox="1"/>
            <p:nvPr/>
          </p:nvSpPr>
          <p:spPr>
            <a:xfrm>
              <a:off x="762000" y="1095375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B8C5D8"/>
                  </a:solidFill>
                  <a:latin typeface="Noto Sans"/>
                  <a:ea typeface="Noto Sans"/>
                  <a:cs typeface="Noto Sans"/>
                  <a:sym typeface="Noto Sans"/>
                </a:rPr>
                <a:t>計算變便宜，判斷更昂貴。</a:t>
              </a:r>
              <a:endParaRPr b="1" sz="18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475" name="Google Shape;475;p17"/>
          <p:cNvGrpSpPr/>
          <p:nvPr/>
        </p:nvGrpSpPr>
        <p:grpSpPr>
          <a:xfrm>
            <a:off x="762000" y="2190750"/>
            <a:ext cx="4953000" cy="2667000"/>
            <a:chOff x="762000" y="2190750"/>
            <a:chExt cx="4953000" cy="2667000"/>
          </a:xfrm>
        </p:grpSpPr>
        <p:sp>
          <p:nvSpPr>
            <p:cNvPr id="476" name="Google Shape;476;p17"/>
            <p:cNvSpPr/>
            <p:nvPr/>
          </p:nvSpPr>
          <p:spPr>
            <a:xfrm>
              <a:off x="762000" y="2190750"/>
              <a:ext cx="4953000" cy="26670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7"/>
            <p:cNvSpPr txBox="1"/>
            <p:nvPr/>
          </p:nvSpPr>
          <p:spPr>
            <a:xfrm>
              <a:off x="1047750" y="2381250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計算變便宜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478" name="Google Shape;478;p17"/>
            <p:cNvSpPr txBox="1"/>
            <p:nvPr/>
          </p:nvSpPr>
          <p:spPr>
            <a:xfrm>
              <a:off x="1047750" y="2857500"/>
              <a:ext cx="4381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73B7C"/>
                </a:buClr>
                <a:buSzPts val="1600"/>
                <a:buFont typeface="Noto Sans"/>
                <a:buChar char="●"/>
              </a:pPr>
              <a:r>
                <a:rPr b="0" lang="en-US" sz="1600">
                  <a:solidFill>
                    <a:srgbClr val="073B7C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數據處理自動化</a:t>
              </a:r>
              <a:endParaRPr b="0" sz="1600">
                <a:solidFill>
                  <a:srgbClr val="073B7C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073B7C"/>
                </a:buClr>
                <a:buSzPts val="1600"/>
                <a:buFont typeface="Noto Sans"/>
                <a:buChar char="●"/>
              </a:pPr>
              <a:r>
                <a:rPr b="0" lang="en-US" sz="1600">
                  <a:solidFill>
                    <a:srgbClr val="073B7C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資訊取得門檻降低</a:t>
              </a:r>
              <a:endParaRPr b="0" sz="1600">
                <a:solidFill>
                  <a:srgbClr val="073B7C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073B7C"/>
                </a:buClr>
                <a:buSzPts val="1600"/>
                <a:buFont typeface="Noto Sans"/>
                <a:buChar char="●"/>
              </a:pPr>
              <a:r>
                <a:rPr b="0" lang="en-US" sz="1600">
                  <a:solidFill>
                    <a:srgbClr val="073B7C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基礎運算大量供應</a:t>
              </a:r>
              <a:endParaRPr b="0" sz="1600">
                <a:solidFill>
                  <a:srgbClr val="073B7C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</p:txBody>
        </p:sp>
      </p:grpSp>
      <p:grpSp>
        <p:nvGrpSpPr>
          <p:cNvPr id="479" name="Google Shape;479;p17"/>
          <p:cNvGrpSpPr/>
          <p:nvPr/>
        </p:nvGrpSpPr>
        <p:grpSpPr>
          <a:xfrm>
            <a:off x="6477000" y="2190750"/>
            <a:ext cx="4953000" cy="2667000"/>
            <a:chOff x="6477000" y="2190750"/>
            <a:chExt cx="4953000" cy="2667000"/>
          </a:xfrm>
        </p:grpSpPr>
        <p:sp>
          <p:nvSpPr>
            <p:cNvPr id="480" name="Google Shape;480;p17"/>
            <p:cNvSpPr/>
            <p:nvPr/>
          </p:nvSpPr>
          <p:spPr>
            <a:xfrm>
              <a:off x="6477000" y="2190750"/>
              <a:ext cx="4953000" cy="2667000"/>
            </a:xfrm>
            <a:prstGeom prst="roundRect">
              <a:avLst>
                <a:gd fmla="val 7142" name="adj"/>
              </a:avLst>
            </a:prstGeom>
            <a:solidFill>
              <a:srgbClr val="EAF3FF"/>
            </a:solidFill>
            <a:ln cap="flat" cmpd="sng" w="19050">
              <a:solidFill>
                <a:srgbClr val="0B4FB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7"/>
            <p:cNvSpPr txBox="1"/>
            <p:nvPr/>
          </p:nvSpPr>
          <p:spPr>
            <a:xfrm>
              <a:off x="6762750" y="2381250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判斷更昂貴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482" name="Google Shape;482;p17"/>
            <p:cNvSpPr txBox="1"/>
            <p:nvPr/>
          </p:nvSpPr>
          <p:spPr>
            <a:xfrm>
              <a:off x="6762750" y="2857500"/>
              <a:ext cx="4381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73B7C"/>
                </a:buClr>
                <a:buSzPts val="1600"/>
                <a:buFont typeface="Noto Sans"/>
                <a:buChar char="●"/>
              </a:pPr>
              <a:r>
                <a:rPr b="1" lang="en-US" sz="16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定義問題的稀缺性</a:t>
              </a:r>
              <a:endParaRPr b="1" sz="16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073B7C"/>
                </a:buClr>
                <a:buSzPts val="1600"/>
                <a:buFont typeface="Noto Sans"/>
                <a:buChar char="●"/>
              </a:pPr>
              <a:r>
                <a:rPr b="1" lang="en-US" sz="16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承擔決策風險的勇氣</a:t>
              </a:r>
              <a:endParaRPr b="1" sz="16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073B7C"/>
                </a:buClr>
                <a:buSzPts val="1600"/>
                <a:buFont typeface="Noto Sans"/>
                <a:buChar char="●"/>
              </a:pPr>
              <a:r>
                <a:rPr b="1" lang="en-US" sz="16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看見「模式」的洞察力</a:t>
              </a:r>
              <a:endParaRPr b="1" sz="16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483" name="Google Shape;483;p17"/>
          <p:cNvGrpSpPr/>
          <p:nvPr/>
        </p:nvGrpSpPr>
        <p:grpSpPr>
          <a:xfrm>
            <a:off x="762000" y="5238750"/>
            <a:ext cx="10668000" cy="666900"/>
            <a:chOff x="762000" y="5238750"/>
            <a:chExt cx="10668000" cy="666900"/>
          </a:xfrm>
        </p:grpSpPr>
        <p:sp>
          <p:nvSpPr>
            <p:cNvPr id="484" name="Google Shape;484;p17"/>
            <p:cNvSpPr/>
            <p:nvPr/>
          </p:nvSpPr>
          <p:spPr>
            <a:xfrm>
              <a:off x="762000" y="5238750"/>
              <a:ext cx="10668000" cy="666900"/>
            </a:xfrm>
            <a:prstGeom prst="roundRect">
              <a:avLst>
                <a:gd fmla="val 50000" name="adj"/>
              </a:avLst>
            </a:prstGeom>
            <a:solidFill>
              <a:srgbClr val="073B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7"/>
            <p:cNvSpPr txBox="1"/>
            <p:nvPr/>
          </p:nvSpPr>
          <p:spPr>
            <a:xfrm>
              <a:off x="1047750" y="5238750"/>
              <a:ext cx="10096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資訊爆炸</a:t>
              </a:r>
              <a:r>
                <a:rPr b="0" lang="en-US" sz="20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不是重點，模式才是。</a:t>
              </a:r>
              <a:endParaRPr b="0" sz="20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8"/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8"/>
          <p:cNvSpPr/>
          <p:nvPr/>
        </p:nvSpPr>
        <p:spPr>
          <a:xfrm>
            <a:off x="8763000" y="-1905000"/>
            <a:ext cx="5334000" cy="5334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8"/>
          <p:cNvSpPr/>
          <p:nvPr/>
        </p:nvSpPr>
        <p:spPr>
          <a:xfrm>
            <a:off x="-476250" y="-1047750"/>
            <a:ext cx="2857500" cy="28575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8"/>
          <p:cNvSpPr/>
          <p:nvPr/>
        </p:nvSpPr>
        <p:spPr>
          <a:xfrm>
            <a:off x="762000" y="381000"/>
            <a:ext cx="10668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資訊問題，不只是假新聞</a:t>
            </a:r>
            <a:endParaRPr b="0" sz="360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495" name="Google Shape;495;p18"/>
          <p:cNvSpPr/>
          <p:nvPr/>
        </p:nvSpPr>
        <p:spPr>
          <a:xfrm>
            <a:off x="762000" y="1000125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rPr>
              <a:t>看錯問題，就會用錯解法。</a:t>
            </a:r>
            <a:endParaRPr b="1" sz="1800">
              <a:solidFill>
                <a:srgbClr val="B8C5D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762000" y="2000250"/>
            <a:ext cx="3429000" cy="2667000"/>
          </a:xfrm>
          <a:prstGeom prst="roundRect">
            <a:avLst>
              <a:gd fmla="val 7142" name="adj"/>
            </a:avLst>
          </a:prstGeom>
          <a:solidFill>
            <a:srgbClr val="FFFFFF"/>
          </a:solidFill>
          <a:ln cap="flat" cmpd="sng" w="19050">
            <a:solidFill>
              <a:srgbClr val="AFC9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8"/>
          <p:cNvSpPr/>
          <p:nvPr/>
        </p:nvSpPr>
        <p:spPr>
          <a:xfrm>
            <a:off x="2143125" y="2190750"/>
            <a:ext cx="666900" cy="66690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8"/>
          <p:cNvSpPr/>
          <p:nvPr/>
        </p:nvSpPr>
        <p:spPr>
          <a:xfrm>
            <a:off x="2143125" y="2190750"/>
            <a:ext cx="666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!</a:t>
            </a:r>
            <a:endParaRPr b="0" sz="28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499" name="Google Shape;499;p18"/>
          <p:cNvSpPr/>
          <p:nvPr/>
        </p:nvSpPr>
        <p:spPr>
          <a:xfrm>
            <a:off x="952500" y="3000375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錯誤資訊</a:t>
            </a:r>
            <a:endParaRPr b="0" sz="22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952500" y="3429000"/>
            <a:ext cx="3048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不是故意騙，但可能錯</a:t>
            </a:r>
            <a:endParaRPr b="0" sz="1300">
              <a:solidFill>
                <a:srgbClr val="475569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sp>
        <p:nvSpPr>
          <p:cNvPr id="501" name="Google Shape;501;p18"/>
          <p:cNvSpPr/>
          <p:nvPr/>
        </p:nvSpPr>
        <p:spPr>
          <a:xfrm>
            <a:off x="1238250" y="3952875"/>
            <a:ext cx="2476500" cy="428700"/>
          </a:xfrm>
          <a:prstGeom prst="roundRect">
            <a:avLst>
              <a:gd fmla="val 50000" name="adj"/>
            </a:avLst>
          </a:prstGeom>
          <a:solidFill>
            <a:srgbClr val="EAF3FF"/>
          </a:solidFill>
          <a:ln cap="flat" cmpd="sng" w="9525">
            <a:solidFill>
              <a:srgbClr val="AFC9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8"/>
          <p:cNvSpPr/>
          <p:nvPr/>
        </p:nvSpPr>
        <p:spPr>
          <a:xfrm>
            <a:off x="1238250" y="3952875"/>
            <a:ext cx="24765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4FB3"/>
                </a:solidFill>
                <a:latin typeface="Noto Sans"/>
                <a:ea typeface="Noto Sans"/>
                <a:cs typeface="Noto Sans"/>
                <a:sym typeface="Noto Sans"/>
              </a:rPr>
              <a:t>修正、補充脈絡</a:t>
            </a:r>
            <a:endParaRPr b="1" sz="1400">
              <a:solidFill>
                <a:srgbClr val="0B4FB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4381500" y="1905000"/>
            <a:ext cx="3429000" cy="2857500"/>
          </a:xfrm>
          <a:prstGeom prst="roundRect">
            <a:avLst>
              <a:gd fmla="val 6666" name="adj"/>
            </a:avLst>
          </a:prstGeom>
          <a:solidFill>
            <a:srgbClr val="FFF5F5"/>
          </a:solidFill>
          <a:ln cap="flat" cmpd="sng" w="38100">
            <a:solidFill>
              <a:srgbClr val="D948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8"/>
          <p:cNvSpPr/>
          <p:nvPr/>
        </p:nvSpPr>
        <p:spPr>
          <a:xfrm>
            <a:off x="5762625" y="2095500"/>
            <a:ext cx="666900" cy="666900"/>
          </a:xfrm>
          <a:prstGeom prst="ellipse">
            <a:avLst/>
          </a:prstGeom>
          <a:solidFill>
            <a:srgbClr val="FFE3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8"/>
          <p:cNvSpPr/>
          <p:nvPr/>
        </p:nvSpPr>
        <p:spPr>
          <a:xfrm>
            <a:off x="5762625" y="2095500"/>
            <a:ext cx="666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D94848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!</a:t>
            </a:r>
            <a:endParaRPr b="0" sz="2800">
              <a:solidFill>
                <a:srgbClr val="D94848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4572000" y="2905125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D94848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惡意資訊</a:t>
            </a:r>
            <a:endParaRPr b="0" sz="2200">
              <a:solidFill>
                <a:srgbClr val="D94848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4572000" y="3333750"/>
            <a:ext cx="3048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刻意誤導與操作</a:t>
            </a:r>
            <a:endParaRPr b="0" sz="1300">
              <a:solidFill>
                <a:srgbClr val="475569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4857750" y="4048125"/>
            <a:ext cx="2476500" cy="428700"/>
          </a:xfrm>
          <a:prstGeom prst="roundRect">
            <a:avLst>
              <a:gd fmla="val 50000" name="adj"/>
            </a:avLst>
          </a:prstGeom>
          <a:solidFill>
            <a:srgbClr val="FFE3E3"/>
          </a:solidFill>
          <a:ln cap="flat" cmpd="sng" w="9525">
            <a:solidFill>
              <a:srgbClr val="FF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8"/>
          <p:cNvSpPr/>
          <p:nvPr/>
        </p:nvSpPr>
        <p:spPr>
          <a:xfrm>
            <a:off x="4857750" y="4048125"/>
            <a:ext cx="24765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D94848"/>
                </a:solidFill>
                <a:latin typeface="Noto Sans"/>
                <a:ea typeface="Noto Sans"/>
                <a:cs typeface="Noto Sans"/>
                <a:sym typeface="Noto Sans"/>
              </a:rPr>
              <a:t>行有餘力，</a:t>
            </a:r>
            <a:r>
              <a:rPr b="1" lang="en-US" sz="1400">
                <a:solidFill>
                  <a:srgbClr val="D94848"/>
                </a:solidFill>
                <a:latin typeface="Noto Sans"/>
                <a:ea typeface="Noto Sans"/>
                <a:cs typeface="Noto Sans"/>
                <a:sym typeface="Noto Sans"/>
              </a:rPr>
              <a:t>追查來源與動機</a:t>
            </a:r>
            <a:endParaRPr b="1" sz="1400">
              <a:solidFill>
                <a:srgbClr val="D9484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8001000" y="2000250"/>
            <a:ext cx="3429000" cy="2667000"/>
          </a:xfrm>
          <a:prstGeom prst="roundRect">
            <a:avLst>
              <a:gd fmla="val 7142" name="adj"/>
            </a:avLst>
          </a:prstGeom>
          <a:solidFill>
            <a:srgbClr val="FFFFFF"/>
          </a:solidFill>
          <a:ln cap="flat" cmpd="sng" w="19050">
            <a:solidFill>
              <a:srgbClr val="AFC9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8"/>
          <p:cNvSpPr/>
          <p:nvPr/>
        </p:nvSpPr>
        <p:spPr>
          <a:xfrm>
            <a:off x="9382125" y="2190750"/>
            <a:ext cx="666900" cy="66690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8"/>
          <p:cNvSpPr/>
          <p:nvPr/>
        </p:nvSpPr>
        <p:spPr>
          <a:xfrm>
            <a:off x="9382125" y="2190750"/>
            <a:ext cx="666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!</a:t>
            </a:r>
            <a:endParaRPr b="0" sz="28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8191500" y="3000375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無意義資訊</a:t>
            </a:r>
            <a:endParaRPr b="0" sz="22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8191500" y="3429000"/>
            <a:ext cx="3048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消耗注意力，沒有幫助</a:t>
            </a:r>
            <a:endParaRPr b="0" sz="1300">
              <a:solidFill>
                <a:srgbClr val="475569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8477250" y="3952875"/>
            <a:ext cx="2476500" cy="428700"/>
          </a:xfrm>
          <a:prstGeom prst="roundRect">
            <a:avLst>
              <a:gd fmla="val 50000" name="adj"/>
            </a:avLst>
          </a:prstGeom>
          <a:solidFill>
            <a:srgbClr val="EAF3FF"/>
          </a:solidFill>
          <a:ln cap="flat" cmpd="sng" w="9525">
            <a:solidFill>
              <a:srgbClr val="AFC9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8"/>
          <p:cNvSpPr/>
          <p:nvPr/>
        </p:nvSpPr>
        <p:spPr>
          <a:xfrm>
            <a:off x="8477250" y="3952875"/>
            <a:ext cx="24765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4FB3"/>
                </a:solidFill>
                <a:latin typeface="Noto Sans"/>
                <a:ea typeface="Noto Sans"/>
                <a:cs typeface="Noto Sans"/>
                <a:sym typeface="Noto Sans"/>
              </a:rPr>
              <a:t>減少攝取、保留心智</a:t>
            </a:r>
            <a:endParaRPr b="1" sz="1400">
              <a:solidFill>
                <a:srgbClr val="0B4FB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762000" y="5048250"/>
            <a:ext cx="10668000" cy="5715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8"/>
          <p:cNvSpPr/>
          <p:nvPr/>
        </p:nvSpPr>
        <p:spPr>
          <a:xfrm>
            <a:off x="1047750" y="5048250"/>
            <a:ext cx="10096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把</a:t>
            </a: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分辨</a:t>
            </a: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「</a:t>
            </a: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自己遇到的是哪一種資訊問題</a:t>
            </a: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」的能力，練成直覺</a:t>
            </a: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b="1" sz="18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9"/>
          <p:cNvSpPr/>
          <p:nvPr/>
        </p:nvSpPr>
        <p:spPr>
          <a:xfrm>
            <a:off x="9048750" y="-1905000"/>
            <a:ext cx="4762500" cy="4762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9"/>
          <p:cNvSpPr/>
          <p:nvPr/>
        </p:nvSpPr>
        <p:spPr>
          <a:xfrm>
            <a:off x="0" y="762000"/>
            <a:ext cx="1905000" cy="1905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9"/>
          <p:cNvSpPr/>
          <p:nvPr/>
        </p:nvSpPr>
        <p:spPr>
          <a:xfrm>
            <a:off x="762000" y="428625"/>
            <a:ext cx="1066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1846｜達爾文的藤壺與「慢科學」</a:t>
            </a:r>
            <a:endParaRPr b="0" sz="360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762000" y="1000125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rPr>
              <a:t>資訊吸收的戰力，不是刷得多快，而是轉化率高不高。</a:t>
            </a:r>
            <a:endParaRPr b="1" sz="1800">
              <a:solidFill>
                <a:srgbClr val="B8C5D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762000" y="2000250"/>
            <a:ext cx="3238500" cy="285750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9050">
            <a:solidFill>
              <a:srgbClr val="AFC9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9"/>
          <p:cNvSpPr/>
          <p:nvPr/>
        </p:nvSpPr>
        <p:spPr>
          <a:xfrm>
            <a:off x="2047875" y="2190750"/>
            <a:ext cx="666900" cy="66690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9"/>
          <p:cNvSpPr/>
          <p:nvPr/>
        </p:nvSpPr>
        <p:spPr>
          <a:xfrm>
            <a:off x="2047875" y="2190750"/>
            <a:ext cx="666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</a:t>
            </a:r>
            <a:endParaRPr b="0" sz="28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952500" y="3000375"/>
            <a:ext cx="285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慢火燉煮</a:t>
            </a:r>
            <a:endParaRPr b="0" sz="22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952500" y="3429000"/>
            <a:ext cx="285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把資訊轉成判斷</a:t>
            </a:r>
            <a:endParaRPr b="0" sz="1300">
              <a:solidFill>
                <a:srgbClr val="475569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深思熟慮、過濾雜訊</a:t>
            </a:r>
            <a:endParaRPr b="0" sz="1300">
              <a:solidFill>
                <a:srgbClr val="475569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4476750" y="2000250"/>
            <a:ext cx="3238500" cy="2857500"/>
          </a:xfrm>
          <a:prstGeom prst="roundRect">
            <a:avLst>
              <a:gd fmla="val 6666" name="adj"/>
            </a:avLst>
          </a:prstGeom>
          <a:solidFill>
            <a:srgbClr val="EAF3FF"/>
          </a:solidFill>
          <a:ln cap="flat" cmpd="sng" w="28575">
            <a:solidFill>
              <a:srgbClr val="0B4F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9"/>
          <p:cNvSpPr/>
          <p:nvPr/>
        </p:nvSpPr>
        <p:spPr>
          <a:xfrm>
            <a:off x="5762625" y="2190750"/>
            <a:ext cx="666900" cy="666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9"/>
          <p:cNvSpPr/>
          <p:nvPr/>
        </p:nvSpPr>
        <p:spPr>
          <a:xfrm>
            <a:off x="5762625" y="2190750"/>
            <a:ext cx="666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2</a:t>
            </a:r>
            <a:endParaRPr b="0" sz="28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4667250" y="3000375"/>
            <a:ext cx="285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轉化率戰</a:t>
            </a:r>
            <a:endParaRPr b="0" sz="22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4667250" y="3429000"/>
            <a:ext cx="285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重點不在速度</a:t>
            </a:r>
            <a:endParaRPr b="0" sz="1300">
              <a:solidFill>
                <a:srgbClr val="475569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質勝於量、吸收深度</a:t>
            </a:r>
            <a:endParaRPr b="0" sz="1300">
              <a:solidFill>
                <a:srgbClr val="475569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8191500" y="2000250"/>
            <a:ext cx="3238500" cy="285750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9050">
            <a:solidFill>
              <a:srgbClr val="AFC9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9"/>
          <p:cNvSpPr/>
          <p:nvPr/>
        </p:nvSpPr>
        <p:spPr>
          <a:xfrm>
            <a:off x="9477375" y="2190750"/>
            <a:ext cx="666900" cy="66690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9"/>
          <p:cNvSpPr/>
          <p:nvPr/>
        </p:nvSpPr>
        <p:spPr>
          <a:xfrm>
            <a:off x="9477375" y="2190750"/>
            <a:ext cx="666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3</a:t>
            </a:r>
            <a:endParaRPr b="0" sz="28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8382000" y="3000375"/>
            <a:ext cx="285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結構決策</a:t>
            </a:r>
            <a:endParaRPr b="0" sz="2200">
              <a:solidFill>
                <a:srgbClr val="0B4FB3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8382000" y="3429000"/>
            <a:ext cx="285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鍛造成為行動</a:t>
            </a:r>
            <a:endParaRPr b="0" sz="1300">
              <a:solidFill>
                <a:srgbClr val="475569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從結構轉成選擇</a:t>
            </a:r>
            <a:endParaRPr b="0" sz="1300">
              <a:solidFill>
                <a:srgbClr val="475569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762000" y="5048250"/>
            <a:ext cx="10668000" cy="5715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9"/>
          <p:cNvSpPr/>
          <p:nvPr/>
        </p:nvSpPr>
        <p:spPr>
          <a:xfrm>
            <a:off x="1047750" y="5048250"/>
            <a:ext cx="10096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慢不是拖延；慢是把雜訊沉澱成結構，把結構鍛造成決策。</a:t>
            </a:r>
            <a:endParaRPr b="1" sz="18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20"/>
          <p:cNvGrpSpPr/>
          <p:nvPr/>
        </p:nvGrpSpPr>
        <p:grpSpPr>
          <a:xfrm>
            <a:off x="-190500" y="-1428750"/>
            <a:ext cx="13525500" cy="4286250"/>
            <a:chOff x="-190500" y="-1428750"/>
            <a:chExt cx="13525500" cy="4286250"/>
          </a:xfrm>
        </p:grpSpPr>
        <p:sp>
          <p:nvSpPr>
            <p:cNvPr id="552" name="Google Shape;552;p20"/>
            <p:cNvSpPr/>
            <p:nvPr/>
          </p:nvSpPr>
          <p:spPr>
            <a:xfrm>
              <a:off x="0" y="0"/>
              <a:ext cx="12192000" cy="1714500"/>
            </a:xfrm>
            <a:prstGeom prst="rect">
              <a:avLst/>
            </a:prstGeom>
            <a:solidFill>
              <a:srgbClr val="073B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9525000" y="-1428750"/>
              <a:ext cx="3810000" cy="3810000"/>
            </a:xfrm>
            <a:prstGeom prst="ellipse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-190500" y="571500"/>
              <a:ext cx="2286000" cy="22860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0"/>
            <p:cNvSpPr txBox="1"/>
            <p:nvPr/>
          </p:nvSpPr>
          <p:spPr>
            <a:xfrm>
              <a:off x="571500" y="428625"/>
              <a:ext cx="1104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避免短影音式思考：剝開術語的殼</a:t>
              </a:r>
              <a:endParaRPr b="0" sz="36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556" name="Google Shape;556;p20"/>
            <p:cNvSpPr txBox="1"/>
            <p:nvPr/>
          </p:nvSpPr>
          <p:spPr>
            <a:xfrm>
              <a:off x="571500" y="1095375"/>
              <a:ext cx="1104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B8C5D8"/>
                  </a:solidFill>
                  <a:latin typeface="Noto Sans"/>
                  <a:ea typeface="Noto Sans"/>
                  <a:cs typeface="Noto Sans"/>
                  <a:sym typeface="Noto Sans"/>
                </a:rPr>
                <a:t>將</a:t>
              </a:r>
              <a:r>
                <a:rPr b="1" lang="en-US" sz="1800">
                  <a:solidFill>
                    <a:srgbClr val="B8C5D8"/>
                  </a:solidFill>
                  <a:latin typeface="Noto Sans"/>
                  <a:ea typeface="Noto Sans"/>
                  <a:cs typeface="Noto Sans"/>
                  <a:sym typeface="Noto Sans"/>
                </a:rPr>
                <a:t>縮寫與術語</a:t>
              </a:r>
              <a:r>
                <a:rPr b="1" lang="en-US" sz="1800">
                  <a:solidFill>
                    <a:srgbClr val="B8C5D8"/>
                  </a:solidFill>
                  <a:latin typeface="Noto Sans"/>
                  <a:ea typeface="Noto Sans"/>
                  <a:cs typeface="Noto Sans"/>
                  <a:sym typeface="Noto Sans"/>
                </a:rPr>
                <a:t>解壓縮</a:t>
              </a:r>
              <a:r>
                <a:rPr b="1" lang="en-US" sz="1800">
                  <a:solidFill>
                    <a:srgbClr val="B8C5D8"/>
                  </a:solidFill>
                  <a:latin typeface="Noto Sans"/>
                  <a:ea typeface="Noto Sans"/>
                  <a:cs typeface="Noto Sans"/>
                  <a:sym typeface="Noto Sans"/>
                </a:rPr>
                <a:t>，回到資料、根因與行動。</a:t>
              </a:r>
              <a:endParaRPr b="1" sz="18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557" name="Google Shape;557;p20"/>
          <p:cNvGrpSpPr/>
          <p:nvPr/>
        </p:nvGrpSpPr>
        <p:grpSpPr>
          <a:xfrm>
            <a:off x="762000" y="2000250"/>
            <a:ext cx="3429000" cy="2857500"/>
            <a:chOff x="762000" y="2000250"/>
            <a:chExt cx="3429000" cy="2857500"/>
          </a:xfrm>
        </p:grpSpPr>
        <p:sp>
          <p:nvSpPr>
            <p:cNvPr id="558" name="Google Shape;558;p20"/>
            <p:cNvSpPr/>
            <p:nvPr/>
          </p:nvSpPr>
          <p:spPr>
            <a:xfrm>
              <a:off x="762000" y="2000250"/>
              <a:ext cx="3429000" cy="2857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2143125" y="2190750"/>
              <a:ext cx="666900" cy="6669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0"/>
            <p:cNvSpPr txBox="1"/>
            <p:nvPr/>
          </p:nvSpPr>
          <p:spPr>
            <a:xfrm>
              <a:off x="2143125" y="2190750"/>
              <a:ext cx="666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b="0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561" name="Google Shape;561;p20"/>
            <p:cNvSpPr txBox="1"/>
            <p:nvPr/>
          </p:nvSpPr>
          <p:spPr>
            <a:xfrm>
              <a:off x="952500" y="3000375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表層現況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562" name="Google Shape;562;p20"/>
            <p:cNvSpPr txBox="1"/>
            <p:nvPr/>
          </p:nvSpPr>
          <p:spPr>
            <a:xfrm>
              <a:off x="952500" y="3476625"/>
              <a:ext cx="304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縮寫與術語</a:t>
              </a:r>
              <a:endParaRPr b="1" sz="14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高深專業字彙</a:t>
              </a:r>
              <a:endParaRPr b="0" sz="12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碎片化理解</a:t>
              </a:r>
              <a:endParaRPr b="0" sz="12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容易變甩鍋工具</a:t>
              </a:r>
              <a:endParaRPr b="0" sz="12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</p:txBody>
        </p:sp>
      </p:grpSp>
      <p:grpSp>
        <p:nvGrpSpPr>
          <p:cNvPr id="563" name="Google Shape;563;p20"/>
          <p:cNvGrpSpPr/>
          <p:nvPr/>
        </p:nvGrpSpPr>
        <p:grpSpPr>
          <a:xfrm>
            <a:off x="4381500" y="1905000"/>
            <a:ext cx="3429000" cy="3048000"/>
            <a:chOff x="4381500" y="1905000"/>
            <a:chExt cx="3429000" cy="3048000"/>
          </a:xfrm>
        </p:grpSpPr>
        <p:sp>
          <p:nvSpPr>
            <p:cNvPr id="564" name="Google Shape;564;p20"/>
            <p:cNvSpPr/>
            <p:nvPr/>
          </p:nvSpPr>
          <p:spPr>
            <a:xfrm>
              <a:off x="4381500" y="1905000"/>
              <a:ext cx="3429000" cy="3048000"/>
            </a:xfrm>
            <a:prstGeom prst="roundRect">
              <a:avLst>
                <a:gd fmla="val 6250" name="adj"/>
              </a:avLst>
            </a:prstGeom>
            <a:solidFill>
              <a:srgbClr val="EAF3FF"/>
            </a:solidFill>
            <a:ln cap="flat" cmpd="sng" w="38100">
              <a:solidFill>
                <a:srgbClr val="0B4FB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5762625" y="2095500"/>
              <a:ext cx="666900" cy="666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0"/>
            <p:cNvSpPr txBox="1"/>
            <p:nvPr/>
          </p:nvSpPr>
          <p:spPr>
            <a:xfrm>
              <a:off x="5762625" y="2095500"/>
              <a:ext cx="666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b="0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567" name="Google Shape;567;p20"/>
            <p:cNvSpPr txBox="1"/>
            <p:nvPr/>
          </p:nvSpPr>
          <p:spPr>
            <a:xfrm>
              <a:off x="4572000" y="2905125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核心工作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568" name="Google Shape;568;p20"/>
            <p:cNvSpPr txBox="1"/>
            <p:nvPr/>
          </p:nvSpPr>
          <p:spPr>
            <a:xfrm>
              <a:off x="4572000" y="3381375"/>
              <a:ext cx="3048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剝開術語的殼</a:t>
              </a:r>
              <a:endParaRPr b="1" sz="14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回到 Data &amp; Root Cause</a:t>
              </a:r>
              <a:endParaRPr b="0" sz="12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挖掘本質問題</a:t>
              </a:r>
              <a:endParaRPr b="0" sz="12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轉成具體行動</a:t>
              </a:r>
              <a:endParaRPr b="0" sz="12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</p:txBody>
        </p:sp>
      </p:grpSp>
      <p:grpSp>
        <p:nvGrpSpPr>
          <p:cNvPr id="569" name="Google Shape;569;p20"/>
          <p:cNvGrpSpPr/>
          <p:nvPr/>
        </p:nvGrpSpPr>
        <p:grpSpPr>
          <a:xfrm>
            <a:off x="8001000" y="2000250"/>
            <a:ext cx="3429000" cy="2857500"/>
            <a:chOff x="8001000" y="2000250"/>
            <a:chExt cx="3429000" cy="2857500"/>
          </a:xfrm>
        </p:grpSpPr>
        <p:sp>
          <p:nvSpPr>
            <p:cNvPr id="570" name="Google Shape;570;p20"/>
            <p:cNvSpPr/>
            <p:nvPr/>
          </p:nvSpPr>
          <p:spPr>
            <a:xfrm>
              <a:off x="8001000" y="2000250"/>
              <a:ext cx="3429000" cy="2857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9382125" y="2190750"/>
              <a:ext cx="666900" cy="6669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0"/>
            <p:cNvSpPr txBox="1"/>
            <p:nvPr/>
          </p:nvSpPr>
          <p:spPr>
            <a:xfrm>
              <a:off x="9382125" y="2190750"/>
              <a:ext cx="666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3</a:t>
              </a:r>
              <a:endParaRPr b="0" sz="2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573" name="Google Shape;573;p20"/>
            <p:cNvSpPr txBox="1"/>
            <p:nvPr/>
          </p:nvSpPr>
          <p:spPr>
            <a:xfrm>
              <a:off x="8191500" y="3000375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最終產出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574" name="Google Shape;574;p20"/>
            <p:cNvSpPr txBox="1"/>
            <p:nvPr/>
          </p:nvSpPr>
          <p:spPr>
            <a:xfrm>
              <a:off x="8191500" y="3476625"/>
              <a:ext cx="304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推論與負責</a:t>
              </a:r>
              <a:endParaRPr b="1" sz="14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Inference &amp; Accountability</a:t>
              </a:r>
              <a:endParaRPr b="0" sz="12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產出可驗證推論</a:t>
              </a:r>
              <a:endParaRPr b="0" sz="12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建立跨團隊信任</a:t>
              </a:r>
              <a:endParaRPr b="0" sz="12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</p:txBody>
        </p:sp>
      </p:grpSp>
      <p:grpSp>
        <p:nvGrpSpPr>
          <p:cNvPr id="575" name="Google Shape;575;p20"/>
          <p:cNvGrpSpPr/>
          <p:nvPr/>
        </p:nvGrpSpPr>
        <p:grpSpPr>
          <a:xfrm>
            <a:off x="762000" y="5238750"/>
            <a:ext cx="10668000" cy="571500"/>
            <a:chOff x="762000" y="5238750"/>
            <a:chExt cx="10668000" cy="571500"/>
          </a:xfrm>
        </p:grpSpPr>
        <p:sp>
          <p:nvSpPr>
            <p:cNvPr id="576" name="Google Shape;576;p20"/>
            <p:cNvSpPr/>
            <p:nvPr/>
          </p:nvSpPr>
          <p:spPr>
            <a:xfrm>
              <a:off x="762000" y="5238750"/>
              <a:ext cx="10668000" cy="571500"/>
            </a:xfrm>
            <a:prstGeom prst="roundRect">
              <a:avLst>
                <a:gd fmla="val 50000" name="adj"/>
              </a:avLst>
            </a:prstGeom>
            <a:solidFill>
              <a:srgbClr val="073B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0"/>
            <p:cNvSpPr txBox="1"/>
            <p:nvPr/>
          </p:nvSpPr>
          <p:spPr>
            <a:xfrm>
              <a:off x="1047750" y="5238750"/>
              <a:ext cx="1009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從術語回到根因，從甩鍋回到可驗證的推論。</a:t>
              </a:r>
              <a:endParaRPr b="1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2"/>
          <p:cNvSpPr/>
          <p:nvPr/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rgbClr val="0B4F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2"/>
          <p:cNvSpPr/>
          <p:nvPr/>
        </p:nvSpPr>
        <p:spPr>
          <a:xfrm>
            <a:off x="11201400" y="0"/>
            <a:ext cx="987600" cy="5651100"/>
          </a:xfrm>
          <a:prstGeom prst="rect">
            <a:avLst/>
          </a:prstGeom>
          <a:solidFill>
            <a:srgbClr val="0B4FB3"/>
          </a:solidFill>
          <a:ln cap="flat" cmpd="sng" w="12700">
            <a:solidFill>
              <a:srgbClr val="0B4FB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2"/>
          <p:cNvSpPr/>
          <p:nvPr/>
        </p:nvSpPr>
        <p:spPr>
          <a:xfrm>
            <a:off x="9715500" y="-1238250"/>
            <a:ext cx="3429000" cy="3429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2"/>
          <p:cNvSpPr/>
          <p:nvPr/>
        </p:nvSpPr>
        <p:spPr>
          <a:xfrm>
            <a:off x="0" y="952500"/>
            <a:ext cx="1905000" cy="1905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2"/>
          <p:cNvSpPr/>
          <p:nvPr/>
        </p:nvSpPr>
        <p:spPr>
          <a:xfrm>
            <a:off x="762000" y="4762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我現在透過泛科學在做什麼</a:t>
            </a:r>
            <a:endParaRPr b="0" i="0" sz="420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588" name="Google Shape;588;p22"/>
          <p:cNvSpPr/>
          <p:nvPr/>
        </p:nvSpPr>
        <p:spPr>
          <a:xfrm>
            <a:off x="762000" y="1238250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rPr>
              <a:t>用不同節奏，陪不同的人理解世界。</a:t>
            </a:r>
            <a:endParaRPr b="1" i="0" sz="2000">
              <a:solidFill>
                <a:srgbClr val="B8C5D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9" name="Google Shape;589;p22"/>
          <p:cNvSpPr/>
          <p:nvPr/>
        </p:nvSpPr>
        <p:spPr>
          <a:xfrm>
            <a:off x="762000" y="2286000"/>
            <a:ext cx="2000100" cy="2667000"/>
          </a:xfrm>
          <a:prstGeom prst="roundRect">
            <a:avLst>
              <a:gd fmla="val 9523" name="adj"/>
            </a:avLst>
          </a:prstGeom>
          <a:solidFill>
            <a:srgbClr val="FFFFFF"/>
          </a:solidFill>
          <a:ln cap="flat" cmpd="sng" w="19050">
            <a:solidFill>
              <a:srgbClr val="AFC9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2"/>
          <p:cNvSpPr/>
          <p:nvPr/>
        </p:nvSpPr>
        <p:spPr>
          <a:xfrm>
            <a:off x="3000375" y="2286000"/>
            <a:ext cx="2000100" cy="2667000"/>
          </a:xfrm>
          <a:prstGeom prst="roundRect">
            <a:avLst>
              <a:gd fmla="val 9523" name="adj"/>
            </a:avLst>
          </a:prstGeom>
          <a:solidFill>
            <a:srgbClr val="FFFFFF"/>
          </a:solidFill>
          <a:ln cap="flat" cmpd="sng" w="19050">
            <a:solidFill>
              <a:srgbClr val="AFC9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2"/>
          <p:cNvSpPr/>
          <p:nvPr/>
        </p:nvSpPr>
        <p:spPr>
          <a:xfrm>
            <a:off x="5238750" y="2286000"/>
            <a:ext cx="2000100" cy="2667000"/>
          </a:xfrm>
          <a:prstGeom prst="roundRect">
            <a:avLst>
              <a:gd fmla="val 9523" name="adj"/>
            </a:avLst>
          </a:prstGeom>
          <a:solidFill>
            <a:srgbClr val="EAF3FF"/>
          </a:solidFill>
          <a:ln cap="flat" cmpd="sng" w="38100">
            <a:solidFill>
              <a:srgbClr val="0B4F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2"/>
          <p:cNvSpPr/>
          <p:nvPr/>
        </p:nvSpPr>
        <p:spPr>
          <a:xfrm>
            <a:off x="7477125" y="2286000"/>
            <a:ext cx="2000100" cy="2667000"/>
          </a:xfrm>
          <a:prstGeom prst="roundRect">
            <a:avLst>
              <a:gd fmla="val 9523" name="adj"/>
            </a:avLst>
          </a:prstGeom>
          <a:solidFill>
            <a:srgbClr val="FFFFFF"/>
          </a:solidFill>
          <a:ln cap="flat" cmpd="sng" w="19050">
            <a:solidFill>
              <a:srgbClr val="AFC9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2"/>
          <p:cNvSpPr/>
          <p:nvPr/>
        </p:nvSpPr>
        <p:spPr>
          <a:xfrm>
            <a:off x="9715500" y="2286000"/>
            <a:ext cx="2000100" cy="2667000"/>
          </a:xfrm>
          <a:prstGeom prst="roundRect">
            <a:avLst>
              <a:gd fmla="val 9523" name="adj"/>
            </a:avLst>
          </a:prstGeom>
          <a:solidFill>
            <a:srgbClr val="FFFFFF"/>
          </a:solidFill>
          <a:ln cap="flat" cmpd="sng" w="19050">
            <a:solidFill>
              <a:srgbClr val="AFC9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2"/>
          <p:cNvSpPr/>
          <p:nvPr/>
        </p:nvSpPr>
        <p:spPr>
          <a:xfrm>
            <a:off x="1333500" y="2524125"/>
            <a:ext cx="857400" cy="85740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2"/>
          <p:cNvSpPr/>
          <p:nvPr/>
        </p:nvSpPr>
        <p:spPr>
          <a:xfrm>
            <a:off x="3571875" y="2524125"/>
            <a:ext cx="857400" cy="85740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"/>
          <p:cNvSpPr/>
          <p:nvPr/>
        </p:nvSpPr>
        <p:spPr>
          <a:xfrm>
            <a:off x="5810250" y="2524125"/>
            <a:ext cx="857400" cy="857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2"/>
          <p:cNvSpPr/>
          <p:nvPr/>
        </p:nvSpPr>
        <p:spPr>
          <a:xfrm>
            <a:off x="8048625" y="2524125"/>
            <a:ext cx="857400" cy="85740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2"/>
          <p:cNvSpPr/>
          <p:nvPr/>
        </p:nvSpPr>
        <p:spPr>
          <a:xfrm>
            <a:off x="10287000" y="2524125"/>
            <a:ext cx="857400" cy="85740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2"/>
          <p:cNvSpPr/>
          <p:nvPr/>
        </p:nvSpPr>
        <p:spPr>
          <a:xfrm>
            <a:off x="1333500" y="2570861"/>
            <a:ext cx="8574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0B4FB3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article</a:t>
            </a:r>
            <a:endParaRPr b="0" i="0" sz="3200">
              <a:solidFill>
                <a:srgbClr val="0B4FB3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600" name="Google Shape;600;p22"/>
          <p:cNvSpPr/>
          <p:nvPr/>
        </p:nvSpPr>
        <p:spPr>
          <a:xfrm>
            <a:off x="3571875" y="2570861"/>
            <a:ext cx="8574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0B4FB3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play_circle_filled</a:t>
            </a:r>
            <a:endParaRPr b="0" i="0" sz="3200">
              <a:solidFill>
                <a:srgbClr val="0B4FB3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601" name="Google Shape;601;p22"/>
          <p:cNvSpPr/>
          <p:nvPr/>
        </p:nvSpPr>
        <p:spPr>
          <a:xfrm>
            <a:off x="5810250" y="2570861"/>
            <a:ext cx="8574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0B4FB3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video_library</a:t>
            </a:r>
            <a:endParaRPr b="0" i="0" sz="3200">
              <a:solidFill>
                <a:srgbClr val="0B4FB3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602" name="Google Shape;602;p22"/>
          <p:cNvSpPr/>
          <p:nvPr/>
        </p:nvSpPr>
        <p:spPr>
          <a:xfrm>
            <a:off x="8048625" y="2570861"/>
            <a:ext cx="8574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0B4FB3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spa</a:t>
            </a:r>
            <a:endParaRPr b="0" i="0" sz="3200">
              <a:solidFill>
                <a:srgbClr val="0B4FB3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603" name="Google Shape;603;p22"/>
          <p:cNvSpPr/>
          <p:nvPr/>
        </p:nvSpPr>
        <p:spPr>
          <a:xfrm>
            <a:off x="10287000" y="2570861"/>
            <a:ext cx="8574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0B4FB3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groups</a:t>
            </a:r>
            <a:endParaRPr b="0" i="0" sz="3200">
              <a:solidFill>
                <a:srgbClr val="0B4FB3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604" name="Google Shape;604;p22"/>
          <p:cNvSpPr/>
          <p:nvPr/>
        </p:nvSpPr>
        <p:spPr>
          <a:xfrm>
            <a:off x="952500" y="3524250"/>
            <a:ext cx="1619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B4FB3"/>
                </a:solidFill>
                <a:latin typeface="Noto Sans"/>
                <a:ea typeface="Noto Sans"/>
                <a:cs typeface="Noto Sans"/>
                <a:sym typeface="Noto Sans"/>
              </a:rPr>
              <a:t>網站文章</a:t>
            </a:r>
            <a:endParaRPr b="1" i="0" sz="1800">
              <a:solidFill>
                <a:srgbClr val="0B4FB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5" name="Google Shape;605;p22"/>
          <p:cNvSpPr/>
          <p:nvPr/>
        </p:nvSpPr>
        <p:spPr>
          <a:xfrm>
            <a:off x="3190875" y="3524250"/>
            <a:ext cx="1619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B4FB3"/>
                </a:solidFill>
                <a:latin typeface="Noto Sans"/>
                <a:ea typeface="Noto Sans"/>
                <a:cs typeface="Noto Sans"/>
                <a:sym typeface="Noto Sans"/>
              </a:rPr>
              <a:t>YouTube 長片</a:t>
            </a:r>
            <a:endParaRPr b="1" i="0" sz="1800">
              <a:solidFill>
                <a:srgbClr val="0B4FB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6" name="Google Shape;606;p22"/>
          <p:cNvSpPr/>
          <p:nvPr/>
        </p:nvSpPr>
        <p:spPr>
          <a:xfrm>
            <a:off x="5429250" y="3524250"/>
            <a:ext cx="1619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B4FB3"/>
                </a:solidFill>
                <a:latin typeface="Noto Sans"/>
                <a:ea typeface="Noto Sans"/>
                <a:cs typeface="Noto Sans"/>
                <a:sym typeface="Noto Sans"/>
              </a:rPr>
              <a:t>短影音新聞</a:t>
            </a:r>
            <a:endParaRPr b="1" i="0" sz="1800">
              <a:solidFill>
                <a:srgbClr val="0B4FB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7" name="Google Shape;607;p22"/>
          <p:cNvSpPr/>
          <p:nvPr/>
        </p:nvSpPr>
        <p:spPr>
          <a:xfrm>
            <a:off x="7667625" y="3524250"/>
            <a:ext cx="1619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B4FB3"/>
                </a:solidFill>
                <a:latin typeface="Noto Sans"/>
                <a:ea typeface="Noto Sans"/>
                <a:cs typeface="Noto Sans"/>
                <a:sym typeface="Noto Sans"/>
              </a:rPr>
              <a:t>慢科學</a:t>
            </a:r>
            <a:endParaRPr b="1" i="0" sz="1800">
              <a:solidFill>
                <a:srgbClr val="0B4FB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8" name="Google Shape;608;p22"/>
          <p:cNvSpPr/>
          <p:nvPr/>
        </p:nvSpPr>
        <p:spPr>
          <a:xfrm>
            <a:off x="9906000" y="3524250"/>
            <a:ext cx="1619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B4FB3"/>
                </a:solidFill>
                <a:latin typeface="Noto Sans"/>
                <a:ea typeface="Noto Sans"/>
                <a:cs typeface="Noto Sans"/>
                <a:sym typeface="Noto Sans"/>
              </a:rPr>
              <a:t>社群活動</a:t>
            </a:r>
            <a:endParaRPr b="1" i="0" sz="1800">
              <a:solidFill>
                <a:srgbClr val="0B4FB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9" name="Google Shape;609;p22"/>
          <p:cNvSpPr/>
          <p:nvPr/>
        </p:nvSpPr>
        <p:spPr>
          <a:xfrm>
            <a:off x="762000" y="5238750"/>
            <a:ext cx="10668000" cy="7620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2"/>
          <p:cNvSpPr/>
          <p:nvPr/>
        </p:nvSpPr>
        <p:spPr>
          <a:xfrm>
            <a:off x="762000" y="52387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把科學知識，變成更多人能進入的公共語言。</a:t>
            </a:r>
            <a:endParaRPr b="1" i="0" sz="22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3"/>
          <p:cNvSpPr/>
          <p:nvPr/>
        </p:nvSpPr>
        <p:spPr>
          <a:xfrm>
            <a:off x="0" y="0"/>
            <a:ext cx="12192000" cy="2476500"/>
          </a:xfrm>
          <a:prstGeom prst="rect">
            <a:avLst/>
          </a:prstGeom>
          <a:solidFill>
            <a:srgbClr val="0B4F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3"/>
          <p:cNvSpPr/>
          <p:nvPr/>
        </p:nvSpPr>
        <p:spPr>
          <a:xfrm>
            <a:off x="9525000" y="-857250"/>
            <a:ext cx="2857500" cy="28575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3"/>
          <p:cNvSpPr/>
          <p:nvPr/>
        </p:nvSpPr>
        <p:spPr>
          <a:xfrm>
            <a:off x="0" y="1143000"/>
            <a:ext cx="1905000" cy="1905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3"/>
          <p:cNvSpPr/>
          <p:nvPr/>
        </p:nvSpPr>
        <p:spPr>
          <a:xfrm>
            <a:off x="762000" y="5715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泛科學不是只做「科學新聞」</a:t>
            </a:r>
            <a:endParaRPr b="0" sz="420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620" name="Google Shape;620;p23"/>
          <p:cNvSpPr/>
          <p:nvPr/>
        </p:nvSpPr>
        <p:spPr>
          <a:xfrm>
            <a:off x="762000" y="1381125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rPr>
              <a:t>我們在做的是一個降低理解成本的知識系統。</a:t>
            </a:r>
            <a:endParaRPr b="1" sz="2000">
              <a:solidFill>
                <a:srgbClr val="B8C5D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21" name="Google Shape;621;p23"/>
          <p:cNvGrpSpPr/>
          <p:nvPr/>
        </p:nvGrpSpPr>
        <p:grpSpPr>
          <a:xfrm>
            <a:off x="762000" y="2571750"/>
            <a:ext cx="2476500" cy="2095500"/>
            <a:chOff x="762000" y="2571750"/>
            <a:chExt cx="2476500" cy="2095500"/>
          </a:xfrm>
        </p:grpSpPr>
        <p:sp>
          <p:nvSpPr>
            <p:cNvPr id="622" name="Google Shape;622;p23"/>
            <p:cNvSpPr/>
            <p:nvPr/>
          </p:nvSpPr>
          <p:spPr>
            <a:xfrm>
              <a:off x="762000" y="2571750"/>
              <a:ext cx="2476500" cy="20955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3"/>
            <p:cNvSpPr/>
            <p:nvPr/>
          </p:nvSpPr>
          <p:spPr>
            <a:xfrm>
              <a:off x="952500" y="2809875"/>
              <a:ext cx="571500" cy="5715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3"/>
            <p:cNvSpPr txBox="1"/>
            <p:nvPr/>
          </p:nvSpPr>
          <p:spPr>
            <a:xfrm>
              <a:off x="1047750" y="290512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625" name="Google Shape;625;p23"/>
            <p:cNvSpPr txBox="1"/>
            <p:nvPr/>
          </p:nvSpPr>
          <p:spPr>
            <a:xfrm>
              <a:off x="904875" y="3476625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翻譯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626" name="Google Shape;626;p23"/>
            <p:cNvSpPr txBox="1"/>
            <p:nvPr/>
          </p:nvSpPr>
          <p:spPr>
            <a:xfrm>
              <a:off x="904875" y="39052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把學術語言變成</a:t>
              </a:r>
              <a:b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</a:br>
              <a: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大眾能進入的敘事</a:t>
              </a:r>
              <a:endParaRPr b="0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</p:txBody>
        </p:sp>
      </p:grpSp>
      <p:grpSp>
        <p:nvGrpSpPr>
          <p:cNvPr id="627" name="Google Shape;627;p23"/>
          <p:cNvGrpSpPr/>
          <p:nvPr/>
        </p:nvGrpSpPr>
        <p:grpSpPr>
          <a:xfrm>
            <a:off x="3524250" y="2571750"/>
            <a:ext cx="2476500" cy="2095500"/>
            <a:chOff x="3524250" y="2571750"/>
            <a:chExt cx="2476500" cy="2095500"/>
          </a:xfrm>
        </p:grpSpPr>
        <p:sp>
          <p:nvSpPr>
            <p:cNvPr id="628" name="Google Shape;628;p23"/>
            <p:cNvSpPr/>
            <p:nvPr/>
          </p:nvSpPr>
          <p:spPr>
            <a:xfrm>
              <a:off x="3524250" y="2571750"/>
              <a:ext cx="2476500" cy="20955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3714750" y="2809875"/>
              <a:ext cx="571500" cy="5715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3"/>
            <p:cNvSpPr txBox="1"/>
            <p:nvPr/>
          </p:nvSpPr>
          <p:spPr>
            <a:xfrm>
              <a:off x="3810000" y="290512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631" name="Google Shape;631;p23"/>
            <p:cNvSpPr txBox="1"/>
            <p:nvPr/>
          </p:nvSpPr>
          <p:spPr>
            <a:xfrm>
              <a:off x="3667125" y="3476625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信任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632" name="Google Shape;632;p23"/>
            <p:cNvSpPr txBox="1"/>
            <p:nvPr/>
          </p:nvSpPr>
          <p:spPr>
            <a:xfrm>
              <a:off x="3667125" y="39052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用主持人、專家與社群</a:t>
              </a:r>
              <a:b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</a:br>
              <a: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建立可持續關係</a:t>
              </a:r>
              <a:endParaRPr b="0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</p:txBody>
        </p:sp>
      </p:grpSp>
      <p:grpSp>
        <p:nvGrpSpPr>
          <p:cNvPr id="633" name="Google Shape;633;p23"/>
          <p:cNvGrpSpPr/>
          <p:nvPr/>
        </p:nvGrpSpPr>
        <p:grpSpPr>
          <a:xfrm>
            <a:off x="6286500" y="2571750"/>
            <a:ext cx="2476500" cy="2095500"/>
            <a:chOff x="6286500" y="2571750"/>
            <a:chExt cx="2476500" cy="2095500"/>
          </a:xfrm>
        </p:grpSpPr>
        <p:sp>
          <p:nvSpPr>
            <p:cNvPr id="634" name="Google Shape;634;p23"/>
            <p:cNvSpPr/>
            <p:nvPr/>
          </p:nvSpPr>
          <p:spPr>
            <a:xfrm>
              <a:off x="6286500" y="2571750"/>
              <a:ext cx="2476500" cy="20955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3"/>
            <p:cNvSpPr/>
            <p:nvPr/>
          </p:nvSpPr>
          <p:spPr>
            <a:xfrm>
              <a:off x="6477000" y="2809875"/>
              <a:ext cx="571500" cy="5715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3"/>
            <p:cNvSpPr txBox="1"/>
            <p:nvPr/>
          </p:nvSpPr>
          <p:spPr>
            <a:xfrm>
              <a:off x="6572250" y="290512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3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637" name="Google Shape;637;p23"/>
            <p:cNvSpPr txBox="1"/>
            <p:nvPr/>
          </p:nvSpPr>
          <p:spPr>
            <a:xfrm>
              <a:off x="6429375" y="3476625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使用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638" name="Google Shape;638;p23"/>
            <p:cNvSpPr txBox="1"/>
            <p:nvPr/>
          </p:nvSpPr>
          <p:spPr>
            <a:xfrm>
              <a:off x="6429375" y="39052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讓知識能進入決策、</a:t>
              </a:r>
              <a:b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</a:br>
              <a: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教育與生活場景</a:t>
              </a:r>
              <a:endParaRPr b="0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</p:txBody>
        </p:sp>
      </p:grpSp>
      <p:grpSp>
        <p:nvGrpSpPr>
          <p:cNvPr id="639" name="Google Shape;639;p23"/>
          <p:cNvGrpSpPr/>
          <p:nvPr/>
        </p:nvGrpSpPr>
        <p:grpSpPr>
          <a:xfrm>
            <a:off x="9048750" y="2571750"/>
            <a:ext cx="2476500" cy="2095500"/>
            <a:chOff x="9048750" y="2571750"/>
            <a:chExt cx="2476500" cy="2095500"/>
          </a:xfrm>
        </p:grpSpPr>
        <p:sp>
          <p:nvSpPr>
            <p:cNvPr id="640" name="Google Shape;640;p23"/>
            <p:cNvSpPr/>
            <p:nvPr/>
          </p:nvSpPr>
          <p:spPr>
            <a:xfrm>
              <a:off x="9048750" y="2571750"/>
              <a:ext cx="2476500" cy="20955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3"/>
            <p:cNvSpPr/>
            <p:nvPr/>
          </p:nvSpPr>
          <p:spPr>
            <a:xfrm>
              <a:off x="9239250" y="2809875"/>
              <a:ext cx="571500" cy="5715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3"/>
            <p:cNvSpPr txBox="1"/>
            <p:nvPr/>
          </p:nvSpPr>
          <p:spPr>
            <a:xfrm>
              <a:off x="9334500" y="290512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4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643" name="Google Shape;643;p23"/>
            <p:cNvSpPr txBox="1"/>
            <p:nvPr/>
          </p:nvSpPr>
          <p:spPr>
            <a:xfrm>
              <a:off x="9191625" y="3476625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共創</a:t>
              </a:r>
              <a:endParaRPr b="0" sz="20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644" name="Google Shape;644;p23"/>
            <p:cNvSpPr txBox="1"/>
            <p:nvPr/>
          </p:nvSpPr>
          <p:spPr>
            <a:xfrm>
              <a:off x="9191625" y="39052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讓讀者、觀眾、專家</a:t>
              </a:r>
              <a:b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</a:br>
              <a: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與品牌一起參與</a:t>
              </a:r>
              <a:endParaRPr b="0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</p:txBody>
        </p:sp>
      </p:grpSp>
      <p:sp>
        <p:nvSpPr>
          <p:cNvPr id="645" name="Google Shape;645;p23"/>
          <p:cNvSpPr/>
          <p:nvPr/>
        </p:nvSpPr>
        <p:spPr>
          <a:xfrm>
            <a:off x="762000" y="5238750"/>
            <a:ext cx="10668000" cy="7620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3"/>
          <p:cNvSpPr/>
          <p:nvPr/>
        </p:nvSpPr>
        <p:spPr>
          <a:xfrm>
            <a:off x="762000" y="52387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從內容到社群，再到能被使用的公共知識基礎設施。</a:t>
            </a:r>
            <a:endParaRPr b="1" sz="22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7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24"/>
          <p:cNvSpPr/>
          <p:nvPr/>
        </p:nvSpPr>
        <p:spPr>
          <a:xfrm>
            <a:off x="9810750" y="-666750"/>
            <a:ext cx="2857500" cy="28575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4"/>
          <p:cNvSpPr/>
          <p:nvPr/>
        </p:nvSpPr>
        <p:spPr>
          <a:xfrm>
            <a:off x="-190500" y="1143000"/>
            <a:ext cx="1905000" cy="1905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4"/>
          <p:cNvSpPr/>
          <p:nvPr/>
        </p:nvSpPr>
        <p:spPr>
          <a:xfrm>
            <a:off x="762000" y="5715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面對公共議題，可以怎麼問？</a:t>
            </a:r>
            <a:endParaRPr b="0" sz="420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656" name="Google Shape;656;p24"/>
          <p:cNvSpPr/>
          <p:nvPr/>
        </p:nvSpPr>
        <p:spPr>
          <a:xfrm>
            <a:off x="762000" y="1428750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rPr>
              <a:t>把立場問題，先轉成可討論的證據問題。</a:t>
            </a:r>
            <a:endParaRPr b="1" sz="2000">
              <a:solidFill>
                <a:srgbClr val="B8C5D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57" name="Google Shape;657;p24"/>
          <p:cNvGrpSpPr/>
          <p:nvPr/>
        </p:nvGrpSpPr>
        <p:grpSpPr>
          <a:xfrm>
            <a:off x="762000" y="2095500"/>
            <a:ext cx="10668000" cy="3238500"/>
            <a:chOff x="762000" y="2095500"/>
            <a:chExt cx="10668000" cy="3238500"/>
          </a:xfrm>
        </p:grpSpPr>
        <p:sp>
          <p:nvSpPr>
            <p:cNvPr id="658" name="Google Shape;658;p24"/>
            <p:cNvSpPr/>
            <p:nvPr/>
          </p:nvSpPr>
          <p:spPr>
            <a:xfrm>
              <a:off x="762000" y="2095500"/>
              <a:ext cx="10668000" cy="32385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9" name="Google Shape;659;p24"/>
            <p:cNvGrpSpPr/>
            <p:nvPr/>
          </p:nvGrpSpPr>
          <p:grpSpPr>
            <a:xfrm>
              <a:off x="1047750" y="2381250"/>
              <a:ext cx="9239250" cy="476400"/>
              <a:chOff x="1047750" y="2381250"/>
              <a:chExt cx="9239250" cy="476400"/>
            </a:xfrm>
          </p:grpSpPr>
          <p:sp>
            <p:nvSpPr>
              <p:cNvPr id="660" name="Google Shape;660;p24"/>
              <p:cNvSpPr/>
              <p:nvPr/>
            </p:nvSpPr>
            <p:spPr>
              <a:xfrm>
                <a:off x="1047750" y="2381250"/>
                <a:ext cx="476400" cy="476400"/>
              </a:xfrm>
              <a:prstGeom prst="ellipse">
                <a:avLst/>
              </a:prstGeom>
              <a:solidFill>
                <a:srgbClr val="0B4F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24"/>
              <p:cNvSpPr txBox="1"/>
              <p:nvPr/>
            </p:nvSpPr>
            <p:spPr>
              <a:xfrm>
                <a:off x="1047750" y="2381250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200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b="0" sz="22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662" name="Google Shape;662;p24"/>
              <p:cNvSpPr txBox="1"/>
              <p:nvPr/>
            </p:nvSpPr>
            <p:spPr>
              <a:xfrm>
                <a:off x="1714500" y="2381250"/>
                <a:ext cx="8572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073B7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這個問題的核心變因是什麼？</a:t>
                </a:r>
                <a:endParaRPr b="1" sz="22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663" name="Google Shape;663;p24"/>
            <p:cNvGrpSpPr/>
            <p:nvPr/>
          </p:nvGrpSpPr>
          <p:grpSpPr>
            <a:xfrm>
              <a:off x="1047750" y="2952750"/>
              <a:ext cx="9239250" cy="476400"/>
              <a:chOff x="1047750" y="2952750"/>
              <a:chExt cx="9239250" cy="476400"/>
            </a:xfrm>
          </p:grpSpPr>
          <p:sp>
            <p:nvSpPr>
              <p:cNvPr id="664" name="Google Shape;664;p24"/>
              <p:cNvSpPr/>
              <p:nvPr/>
            </p:nvSpPr>
            <p:spPr>
              <a:xfrm>
                <a:off x="1047750" y="2952750"/>
                <a:ext cx="476400" cy="476400"/>
              </a:xfrm>
              <a:prstGeom prst="ellipse">
                <a:avLst/>
              </a:prstGeom>
              <a:solidFill>
                <a:srgbClr val="0B4F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4"/>
              <p:cNvSpPr txBox="1"/>
              <p:nvPr/>
            </p:nvSpPr>
            <p:spPr>
              <a:xfrm>
                <a:off x="1047750" y="2952750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200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2</a:t>
                </a:r>
                <a:endParaRPr b="0" sz="22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666" name="Google Shape;666;p24"/>
              <p:cNvSpPr txBox="1"/>
              <p:nvPr/>
            </p:nvSpPr>
            <p:spPr>
              <a:xfrm>
                <a:off x="1714500" y="2952750"/>
                <a:ext cx="8572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073B7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資料從哪裡來，樣本夠不夠？</a:t>
                </a:r>
                <a:endParaRPr b="1" sz="22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667" name="Google Shape;667;p24"/>
            <p:cNvGrpSpPr/>
            <p:nvPr/>
          </p:nvGrpSpPr>
          <p:grpSpPr>
            <a:xfrm>
              <a:off x="1047750" y="3524250"/>
              <a:ext cx="9239250" cy="476400"/>
              <a:chOff x="1047750" y="3524250"/>
              <a:chExt cx="9239250" cy="476400"/>
            </a:xfrm>
          </p:grpSpPr>
          <p:sp>
            <p:nvSpPr>
              <p:cNvPr id="668" name="Google Shape;668;p24"/>
              <p:cNvSpPr/>
              <p:nvPr/>
            </p:nvSpPr>
            <p:spPr>
              <a:xfrm>
                <a:off x="1047750" y="3524250"/>
                <a:ext cx="476400" cy="476400"/>
              </a:xfrm>
              <a:prstGeom prst="ellipse">
                <a:avLst/>
              </a:prstGeom>
              <a:solidFill>
                <a:srgbClr val="0B4F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24"/>
              <p:cNvSpPr txBox="1"/>
              <p:nvPr/>
            </p:nvSpPr>
            <p:spPr>
              <a:xfrm>
                <a:off x="1047750" y="3524250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200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3</a:t>
                </a:r>
                <a:endParaRPr b="0" sz="22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670" name="Google Shape;670;p24"/>
              <p:cNvSpPr txBox="1"/>
              <p:nvPr/>
            </p:nvSpPr>
            <p:spPr>
              <a:xfrm>
                <a:off x="1714500" y="3524250"/>
                <a:ext cx="8572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073B7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有沒有替代解釋或反例？</a:t>
                </a:r>
                <a:endParaRPr b="1" sz="22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671" name="Google Shape;671;p24"/>
            <p:cNvGrpSpPr/>
            <p:nvPr/>
          </p:nvGrpSpPr>
          <p:grpSpPr>
            <a:xfrm>
              <a:off x="1047750" y="4095750"/>
              <a:ext cx="9239250" cy="476400"/>
              <a:chOff x="1047750" y="4095750"/>
              <a:chExt cx="9239250" cy="476400"/>
            </a:xfrm>
          </p:grpSpPr>
          <p:sp>
            <p:nvSpPr>
              <p:cNvPr id="672" name="Google Shape;672;p24"/>
              <p:cNvSpPr/>
              <p:nvPr/>
            </p:nvSpPr>
            <p:spPr>
              <a:xfrm>
                <a:off x="1047750" y="4095750"/>
                <a:ext cx="476400" cy="476400"/>
              </a:xfrm>
              <a:prstGeom prst="ellipse">
                <a:avLst/>
              </a:prstGeom>
              <a:solidFill>
                <a:srgbClr val="0B4F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24"/>
              <p:cNvSpPr txBox="1"/>
              <p:nvPr/>
            </p:nvSpPr>
            <p:spPr>
              <a:xfrm>
                <a:off x="1047750" y="4095750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200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4</a:t>
                </a:r>
                <a:endParaRPr b="0" sz="22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674" name="Google Shape;674;p24"/>
              <p:cNvSpPr txBox="1"/>
              <p:nvPr/>
            </p:nvSpPr>
            <p:spPr>
              <a:xfrm>
                <a:off x="1714500" y="4095750"/>
                <a:ext cx="8572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073B7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誰會受益，誰承擔風險？</a:t>
                </a:r>
                <a:endParaRPr b="1" sz="22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675" name="Google Shape;675;p24"/>
            <p:cNvGrpSpPr/>
            <p:nvPr/>
          </p:nvGrpSpPr>
          <p:grpSpPr>
            <a:xfrm>
              <a:off x="1047750" y="4667250"/>
              <a:ext cx="9239250" cy="476400"/>
              <a:chOff x="1047750" y="4667250"/>
              <a:chExt cx="9239250" cy="476400"/>
            </a:xfrm>
          </p:grpSpPr>
          <p:sp>
            <p:nvSpPr>
              <p:cNvPr id="676" name="Google Shape;676;p24"/>
              <p:cNvSpPr/>
              <p:nvPr/>
            </p:nvSpPr>
            <p:spPr>
              <a:xfrm>
                <a:off x="1047750" y="4667250"/>
                <a:ext cx="476400" cy="476400"/>
              </a:xfrm>
              <a:prstGeom prst="ellipse">
                <a:avLst/>
              </a:prstGeom>
              <a:solidFill>
                <a:srgbClr val="0B4F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24"/>
              <p:cNvSpPr txBox="1"/>
              <p:nvPr/>
            </p:nvSpPr>
            <p:spPr>
              <a:xfrm>
                <a:off x="1047750" y="4667250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200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5</a:t>
                </a:r>
                <a:endParaRPr b="0" sz="22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678" name="Google Shape;678;p24"/>
              <p:cNvSpPr txBox="1"/>
              <p:nvPr/>
            </p:nvSpPr>
            <p:spPr>
              <a:xfrm>
                <a:off x="1714500" y="4667250"/>
                <a:ext cx="8572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073B7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如果錯了，如何修正？</a:t>
                </a:r>
                <a:endParaRPr b="1" sz="22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</p:grpSp>
      <p:sp>
        <p:nvSpPr>
          <p:cNvPr id="679" name="Google Shape;679;p24"/>
          <p:cNvSpPr/>
          <p:nvPr/>
        </p:nvSpPr>
        <p:spPr>
          <a:xfrm>
            <a:off x="762000" y="5524500"/>
            <a:ext cx="10668000" cy="7620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4"/>
          <p:cNvSpPr txBox="1"/>
          <p:nvPr/>
        </p:nvSpPr>
        <p:spPr>
          <a:xfrm>
            <a:off x="762000" y="55245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科學提問，是通往公共理性的第一步。</a:t>
            </a:r>
            <a:endParaRPr b="1" sz="22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5"/>
          <p:cNvSpPr/>
          <p:nvPr/>
        </p:nvSpPr>
        <p:spPr>
          <a:xfrm>
            <a:off x="0" y="0"/>
            <a:ext cx="12192000" cy="2667000"/>
          </a:xfrm>
          <a:prstGeom prst="rect">
            <a:avLst/>
          </a:prstGeom>
          <a:solidFill>
            <a:srgbClr val="0B4F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5"/>
          <p:cNvSpPr/>
          <p:nvPr/>
        </p:nvSpPr>
        <p:spPr>
          <a:xfrm>
            <a:off x="9906000" y="-762000"/>
            <a:ext cx="3048000" cy="3048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5"/>
          <p:cNvSpPr/>
          <p:nvPr/>
        </p:nvSpPr>
        <p:spPr>
          <a:xfrm>
            <a:off x="-190500" y="1143000"/>
            <a:ext cx="2286000" cy="2286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5"/>
          <p:cNvSpPr/>
          <p:nvPr/>
        </p:nvSpPr>
        <p:spPr>
          <a:xfrm>
            <a:off x="762000" y="5715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一分鐘資訊判斷法</a:t>
            </a:r>
            <a:endParaRPr b="0" sz="420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690" name="Google Shape;690;p25"/>
          <p:cNvSpPr/>
          <p:nvPr/>
        </p:nvSpPr>
        <p:spPr>
          <a:xfrm>
            <a:off x="762000" y="1381125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rPr>
              <a:t>轉傳前，先做四個檢查。</a:t>
            </a:r>
            <a:endParaRPr b="1" sz="2000">
              <a:solidFill>
                <a:srgbClr val="B8C5D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91" name="Google Shape;691;p25"/>
          <p:cNvGrpSpPr/>
          <p:nvPr/>
        </p:nvGrpSpPr>
        <p:grpSpPr>
          <a:xfrm>
            <a:off x="762000" y="2762250"/>
            <a:ext cx="2476500" cy="2190900"/>
            <a:chOff x="762000" y="2762250"/>
            <a:chExt cx="2476500" cy="2190900"/>
          </a:xfrm>
        </p:grpSpPr>
        <p:sp>
          <p:nvSpPr>
            <p:cNvPr id="692" name="Google Shape;692;p25"/>
            <p:cNvSpPr/>
            <p:nvPr/>
          </p:nvSpPr>
          <p:spPr>
            <a:xfrm>
              <a:off x="762000" y="2762250"/>
              <a:ext cx="2476500" cy="21909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1619250" y="2762250"/>
              <a:ext cx="762000" cy="7620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5"/>
            <p:cNvSpPr txBox="1"/>
            <p:nvPr/>
          </p:nvSpPr>
          <p:spPr>
            <a:xfrm>
              <a:off x="1619250" y="276225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誰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695" name="Google Shape;695;p25"/>
            <p:cNvSpPr txBox="1"/>
            <p:nvPr/>
          </p:nvSpPr>
          <p:spPr>
            <a:xfrm>
              <a:off x="904875" y="3571875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誰說的？</a:t>
              </a:r>
              <a:endParaRPr b="0" sz="1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696" name="Google Shape;696;p25"/>
            <p:cNvSpPr txBox="1"/>
            <p:nvPr/>
          </p:nvSpPr>
          <p:spPr>
            <a:xfrm>
              <a:off x="904875" y="400050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來源與利益關係</a:t>
              </a:r>
              <a:endParaRPr b="0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</p:txBody>
        </p:sp>
      </p:grpSp>
      <p:grpSp>
        <p:nvGrpSpPr>
          <p:cNvPr id="697" name="Google Shape;697;p25"/>
          <p:cNvGrpSpPr/>
          <p:nvPr/>
        </p:nvGrpSpPr>
        <p:grpSpPr>
          <a:xfrm>
            <a:off x="3524250" y="2762250"/>
            <a:ext cx="2476500" cy="2190900"/>
            <a:chOff x="3524250" y="2762250"/>
            <a:chExt cx="2476500" cy="2190900"/>
          </a:xfrm>
        </p:grpSpPr>
        <p:sp>
          <p:nvSpPr>
            <p:cNvPr id="698" name="Google Shape;698;p25"/>
            <p:cNvSpPr/>
            <p:nvPr/>
          </p:nvSpPr>
          <p:spPr>
            <a:xfrm>
              <a:off x="3524250" y="2762250"/>
              <a:ext cx="2476500" cy="21909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4381500" y="2762250"/>
              <a:ext cx="762000" cy="7620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5"/>
            <p:cNvSpPr txBox="1"/>
            <p:nvPr/>
          </p:nvSpPr>
          <p:spPr>
            <a:xfrm>
              <a:off x="4381500" y="276225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證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701" name="Google Shape;701;p25"/>
            <p:cNvSpPr txBox="1"/>
            <p:nvPr/>
          </p:nvSpPr>
          <p:spPr>
            <a:xfrm>
              <a:off x="3667125" y="3571875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怎麼知道？</a:t>
              </a:r>
              <a:endParaRPr b="0" sz="1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702" name="Google Shape;702;p25"/>
            <p:cNvSpPr txBox="1"/>
            <p:nvPr/>
          </p:nvSpPr>
          <p:spPr>
            <a:xfrm>
              <a:off x="3667125" y="400050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證據與方法</a:t>
              </a:r>
              <a:endParaRPr b="0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</p:txBody>
        </p:sp>
      </p:grpSp>
      <p:grpSp>
        <p:nvGrpSpPr>
          <p:cNvPr id="703" name="Google Shape;703;p25"/>
          <p:cNvGrpSpPr/>
          <p:nvPr/>
        </p:nvGrpSpPr>
        <p:grpSpPr>
          <a:xfrm>
            <a:off x="6286500" y="2762250"/>
            <a:ext cx="2476500" cy="2190900"/>
            <a:chOff x="6286500" y="2762250"/>
            <a:chExt cx="2476500" cy="2190900"/>
          </a:xfrm>
        </p:grpSpPr>
        <p:sp>
          <p:nvSpPr>
            <p:cNvPr id="704" name="Google Shape;704;p25"/>
            <p:cNvSpPr/>
            <p:nvPr/>
          </p:nvSpPr>
          <p:spPr>
            <a:xfrm>
              <a:off x="6286500" y="2762250"/>
              <a:ext cx="2476500" cy="21909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7143750" y="2762250"/>
              <a:ext cx="762000" cy="7620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5"/>
            <p:cNvSpPr txBox="1"/>
            <p:nvPr/>
          </p:nvSpPr>
          <p:spPr>
            <a:xfrm>
              <a:off x="7143750" y="276225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少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707" name="Google Shape;707;p25"/>
            <p:cNvSpPr txBox="1"/>
            <p:nvPr/>
          </p:nvSpPr>
          <p:spPr>
            <a:xfrm>
              <a:off x="6429375" y="3571875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少了什麼？</a:t>
              </a:r>
              <a:endParaRPr b="0" sz="1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708" name="Google Shape;708;p25"/>
            <p:cNvSpPr txBox="1"/>
            <p:nvPr/>
          </p:nvSpPr>
          <p:spPr>
            <a:xfrm>
              <a:off x="6429375" y="400050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脈絡與限制</a:t>
              </a:r>
              <a:endParaRPr b="0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</p:txBody>
        </p:sp>
      </p:grpSp>
      <p:grpSp>
        <p:nvGrpSpPr>
          <p:cNvPr id="709" name="Google Shape;709;p25"/>
          <p:cNvGrpSpPr/>
          <p:nvPr/>
        </p:nvGrpSpPr>
        <p:grpSpPr>
          <a:xfrm>
            <a:off x="9048750" y="2762250"/>
            <a:ext cx="2476500" cy="2190900"/>
            <a:chOff x="9048750" y="2762250"/>
            <a:chExt cx="2476500" cy="2190900"/>
          </a:xfrm>
        </p:grpSpPr>
        <p:sp>
          <p:nvSpPr>
            <p:cNvPr id="710" name="Google Shape;710;p25"/>
            <p:cNvSpPr/>
            <p:nvPr/>
          </p:nvSpPr>
          <p:spPr>
            <a:xfrm>
              <a:off x="9048750" y="2762250"/>
              <a:ext cx="2476500" cy="21909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9050">
              <a:solidFill>
                <a:srgbClr val="AFC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5"/>
            <p:cNvSpPr/>
            <p:nvPr/>
          </p:nvSpPr>
          <p:spPr>
            <a:xfrm>
              <a:off x="9906000" y="2762250"/>
              <a:ext cx="762000" cy="762000"/>
            </a:xfrm>
            <a:prstGeom prst="ellipse">
              <a:avLst/>
            </a:prstGeom>
            <a:solidFill>
              <a:srgbClr val="EA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5"/>
            <p:cNvSpPr txBox="1"/>
            <p:nvPr/>
          </p:nvSpPr>
          <p:spPr>
            <a:xfrm>
              <a:off x="9906000" y="276225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我</a:t>
              </a:r>
              <a:endParaRPr b="0" sz="22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713" name="Google Shape;713;p25"/>
            <p:cNvSpPr txBox="1"/>
            <p:nvPr/>
          </p:nvSpPr>
          <p:spPr>
            <a:xfrm>
              <a:off x="9191625" y="3571875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B4FB3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我為何想信？</a:t>
              </a:r>
              <a:endParaRPr b="0" sz="1800">
                <a:solidFill>
                  <a:srgbClr val="0B4FB3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714" name="Google Shape;714;p25"/>
            <p:cNvSpPr txBox="1"/>
            <p:nvPr/>
          </p:nvSpPr>
          <p:spPr>
            <a:xfrm>
              <a:off x="9191625" y="400050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Noto Sans Medium"/>
                  <a:ea typeface="Noto Sans Medium"/>
                  <a:cs typeface="Noto Sans Medium"/>
                  <a:sym typeface="Noto Sans Medium"/>
                </a:rPr>
                <a:t>情緒與立場</a:t>
              </a:r>
              <a:endParaRPr b="0" sz="1300">
                <a:solidFill>
                  <a:srgbClr val="475569"/>
                </a:solidFill>
                <a:latin typeface="Noto Sans Medium"/>
                <a:ea typeface="Noto Sans Medium"/>
                <a:cs typeface="Noto Sans Medium"/>
                <a:sym typeface="Noto Sans Medium"/>
              </a:endParaRPr>
            </a:p>
          </p:txBody>
        </p:sp>
      </p:grpSp>
      <p:sp>
        <p:nvSpPr>
          <p:cNvPr id="715" name="Google Shape;715;p25"/>
          <p:cNvSpPr/>
          <p:nvPr/>
        </p:nvSpPr>
        <p:spPr>
          <a:xfrm>
            <a:off x="762000" y="5238750"/>
            <a:ext cx="10668000" cy="762000"/>
          </a:xfrm>
          <a:prstGeom prst="roundRect">
            <a:avLst>
              <a:gd fmla="val 50000" name="adj"/>
            </a:avLst>
          </a:prstGeom>
          <a:solidFill>
            <a:srgbClr val="073B7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5"/>
          <p:cNvSpPr/>
          <p:nvPr/>
        </p:nvSpPr>
        <p:spPr>
          <a:xfrm>
            <a:off x="762000" y="52387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科學素養，也是對自己腦中「想相信」那一刻保持禮貌的懷疑。</a:t>
            </a:r>
            <a:endParaRPr b="1" sz="22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7"/>
          <p:cNvSpPr/>
          <p:nvPr/>
        </p:nvSpPr>
        <p:spPr>
          <a:xfrm>
            <a:off x="0" y="0"/>
            <a:ext cx="12192000" cy="2857500"/>
          </a:xfrm>
          <a:prstGeom prst="rect">
            <a:avLst/>
          </a:prstGeom>
          <a:solidFill>
            <a:srgbClr val="0B4F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7"/>
          <p:cNvSpPr/>
          <p:nvPr/>
        </p:nvSpPr>
        <p:spPr>
          <a:xfrm>
            <a:off x="9429750" y="-762000"/>
            <a:ext cx="3048000" cy="30480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7"/>
          <p:cNvSpPr/>
          <p:nvPr/>
        </p:nvSpPr>
        <p:spPr>
          <a:xfrm>
            <a:off x="-190500" y="114300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5" name="Google Shape;725;p27"/>
          <p:cNvGrpSpPr/>
          <p:nvPr/>
        </p:nvGrpSpPr>
        <p:grpSpPr>
          <a:xfrm>
            <a:off x="762000" y="571500"/>
            <a:ext cx="10668000" cy="1333500"/>
            <a:chOff x="762000" y="571500"/>
            <a:chExt cx="10668000" cy="1333500"/>
          </a:xfrm>
        </p:grpSpPr>
        <p:sp>
          <p:nvSpPr>
            <p:cNvPr id="726" name="Google Shape;726;p27"/>
            <p:cNvSpPr txBox="1"/>
            <p:nvPr/>
          </p:nvSpPr>
          <p:spPr>
            <a:xfrm>
              <a:off x="762000" y="571500"/>
              <a:ext cx="1066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I DON’T KNOW：泛科學的基本原則</a:t>
              </a:r>
              <a:endParaRPr b="0" sz="420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727" name="Google Shape;727;p27"/>
            <p:cNvSpPr txBox="1"/>
            <p:nvPr/>
          </p:nvSpPr>
          <p:spPr>
            <a:xfrm>
              <a:off x="762000" y="1524000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B8C5D8"/>
                  </a:solidFill>
                  <a:latin typeface="Noto Sans"/>
                  <a:ea typeface="Noto Sans"/>
                  <a:cs typeface="Noto Sans"/>
                  <a:sym typeface="Noto Sans"/>
                </a:rPr>
                <a:t>承認不知道，是專業判斷的起點。</a:t>
              </a:r>
              <a:endParaRPr b="1" sz="2000">
                <a:solidFill>
                  <a:srgbClr val="B8C5D8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728" name="Google Shape;728;p27"/>
          <p:cNvGrpSpPr/>
          <p:nvPr/>
        </p:nvGrpSpPr>
        <p:grpSpPr>
          <a:xfrm>
            <a:off x="1333500" y="2476500"/>
            <a:ext cx="9525000" cy="2286000"/>
            <a:chOff x="1333500" y="2476500"/>
            <a:chExt cx="9525000" cy="2286000"/>
          </a:xfrm>
        </p:grpSpPr>
        <p:sp>
          <p:nvSpPr>
            <p:cNvPr id="729" name="Google Shape;729;p27"/>
            <p:cNvSpPr/>
            <p:nvPr/>
          </p:nvSpPr>
          <p:spPr>
            <a:xfrm>
              <a:off x="1333500" y="2476500"/>
              <a:ext cx="9525000" cy="2286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19050">
              <a:solidFill>
                <a:srgbClr val="D7E5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7"/>
            <p:cNvSpPr txBox="1"/>
            <p:nvPr/>
          </p:nvSpPr>
          <p:spPr>
            <a:xfrm>
              <a:off x="1333500" y="2476500"/>
              <a:ext cx="9525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5200">
                  <a:solidFill>
                    <a:srgbClr val="11A36A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I DON’T KNOW</a:t>
              </a:r>
              <a:endParaRPr b="0" sz="5200">
                <a:solidFill>
                  <a:srgbClr val="11A36A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73B7C"/>
                  </a:solidFill>
                  <a:latin typeface="Noto Sans"/>
                  <a:ea typeface="Noto Sans"/>
                  <a:cs typeface="Noto Sans"/>
                  <a:sym typeface="Noto Sans"/>
                </a:rPr>
                <a:t>「科學素養的第一步，是勇敢地承認自己並不知道。」</a:t>
              </a:r>
              <a:endParaRPr b="1" sz="2200">
                <a:solidFill>
                  <a:srgbClr val="073B7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731" name="Google Shape;731;p27"/>
          <p:cNvGrpSpPr/>
          <p:nvPr/>
        </p:nvGrpSpPr>
        <p:grpSpPr>
          <a:xfrm>
            <a:off x="762000" y="5143500"/>
            <a:ext cx="10668000" cy="762000"/>
            <a:chOff x="762000" y="5143500"/>
            <a:chExt cx="10668000" cy="762000"/>
          </a:xfrm>
        </p:grpSpPr>
        <p:sp>
          <p:nvSpPr>
            <p:cNvPr id="732" name="Google Shape;732;p27"/>
            <p:cNvSpPr/>
            <p:nvPr/>
          </p:nvSpPr>
          <p:spPr>
            <a:xfrm>
              <a:off x="762000" y="5143500"/>
              <a:ext cx="10668000" cy="762000"/>
            </a:xfrm>
            <a:prstGeom prst="roundRect">
              <a:avLst>
                <a:gd fmla="val 50000" name="adj"/>
              </a:avLst>
            </a:prstGeom>
            <a:solidFill>
              <a:srgbClr val="073B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7"/>
            <p:cNvSpPr txBox="1"/>
            <p:nvPr/>
          </p:nvSpPr>
          <p:spPr>
            <a:xfrm>
              <a:off x="762000" y="514350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這世界不缺武斷的答案，缺的是承認無知並開始探索的人。</a:t>
              </a:r>
              <a:endParaRPr b="1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2026-04-27T12:38:36Z</dcterms:created>
  <dc:creator>OpenAI</dc:creator>
</cp:coreProperties>
</file>